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1E2A3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MERCADO — EDUCAÇÃO BÁSICA PRIVADA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construir share de prestígio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e escolas privadas de maior relevância no Brasil — metodologia, resultados e limitações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8.095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5230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privadas elegíveis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1188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5230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&gt; 100k hab.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47091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5.647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5230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dentro do recorte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Censo Escolar INEP 2025  ·  Microdados ENEM 2025  ·  IBGE (Censo 2022 / população 2022)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e fontes de dados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82296" cy="117043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geográfico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com população total acima de 100.000 habitantes (filtro obrigatório do case) — recorte nacional, sem restrição adicional de região.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1371600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 municípios no Brasil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70048"/>
            <a:ext cx="82296" cy="117043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7977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de escola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14553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Privada, não-filantrópica (exclui categoria 4 — APAE e similares), em atividade, oferecendo ao menos Ensino Médio (QT_TUR_MED &gt; 0, Censo 2025).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2670048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8.095 escolas elegíveis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68496"/>
            <a:ext cx="82296" cy="117043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07822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obrigatórias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44398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INEP 2025 (edição mais recente disponível) e Microdados ENEM 2025 — ambas de 2025, evitando descompasso de ano entre bases.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3968496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bases + IBGE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26694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266944"/>
            <a:ext cx="82296" cy="1170432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3766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Após aplicar o filtro de população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7424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dos 319 municípios &gt;100k têm ao menos 1 escola elegível (exceção: Ibirité/MG).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5266944"/>
            <a:ext cx="2788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5.647 escolas no recorte final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 — Como definimos “cidade prioritária”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média ponderada de 3 critérios, normalizados por percentil entre os 318 municípios elegíveis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1005840" cy="100584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socioeconômico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domiciliar per capita alta (Censo 2022, Tabela 10296) + população 0-17 anos. Mede poder de compra real das famílias — não PIB per capita, que mistura riqueza industrial com renda doméstica.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011680"/>
            <a:ext cx="1005840" cy="100584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de escolas relevantes já instaladas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709160" y="40233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escolas privadas elegíveis no município. A pergunta não é só “onde tem dinheiro” — é onde já existe concentração de mercado educacional privado.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011680"/>
            <a:ext cx="1005840" cy="100584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116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3200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acadêmica da praça (ENEM)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49640" y="4023360"/>
            <a:ext cx="2971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ENEM 2025 das escolas elegíveis do município. Proxy mais direto de prestígio acadêmico já reconhecido — critério que não existia nas versões anteriores desta análise.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 cidades prioritárias</a:t>
            </a:r>
            <a:endParaRPr lang="en-US" sz="2800" dirty="0"/>
          </a:p>
        </p:txBody>
      </p:sp>
      <p:pic>
        <p:nvPicPr>
          <p:cNvPr id="3" name="Image 0" descr="/sessions/hopeful-gallant-maxwell/mnt/outputs/grafico_top10_cidad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60120"/>
            <a:ext cx="10149840" cy="5623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de mercado x prestígio já instalado</a:t>
            </a:r>
            <a:endParaRPr lang="en-US" sz="2600" dirty="0"/>
          </a:p>
        </p:txBody>
      </p:sp>
      <p:pic>
        <p:nvPicPr>
          <p:cNvPr id="3" name="Image 0" descr="/sessions/hopeful-gallant-maxwell/mnt/outputs/grafico_dispersao_cidade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6949440" cy="5532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35240" y="1188720"/>
            <a:ext cx="4023360" cy="4846320"/>
          </a:xfrm>
          <a:prstGeom prst="roundRect">
            <a:avLst>
              <a:gd name="adj" fmla="val 2273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5528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chama atenção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55280" y="1920240"/>
            <a:ext cx="3429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(capital) fica em #40 e Rio de Janeiro em #22 do ranking completo — não porque sejam mercados fracos, mas porque são cidades grandes e heterogêneas: muita riqueza e muita pobreza lado a lado diluem o percentil.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Praças menores e mais concentradas (São Caetano do Sul, Niterói, Florianópolis, Vitória) pontuam mais alto porque a riqueza ali é mais homogênea em relação ao tamanho da cidade.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significa ignorar SP e RJ — significa que, dentro delas, a estratégia de penetração precisa ser por bairro/região, não por cidade inteira.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— Como definimos “escola de destaque”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às 3 cidades de maior score (Belo Horizonte, Niterói, Vitória) — simples topo do ranking da Parte 1, sem escolha arbitrária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914400" cy="91440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65960" y="196596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acadêmica — ENEM 2025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09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 das 5 áreas dos participantes vinculados à escola. Não depende de autodeclaração da gestão escolar — é resultado externo e verificável, o que constrói reputação publicamente visível.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65960"/>
            <a:ext cx="914400" cy="914400"/>
          </a:xfrm>
          <a:prstGeom prst="ellipse">
            <a:avLst/>
          </a:prstGeom>
          <a:solidFill>
            <a:srgbClr val="0F1626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89520" y="196596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 de prestígio — Censo 2025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709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0-5: laboratório de ciências, laboratório de informática, biblioteca, quadra coberta, auditório. Sinaliza investimento em experiência educacional ampliada, historicamente associado a ticket mais alto.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E271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confiabilidade: escolas com menos de 10 participantes do ENEM vinculados não competem pelo Top 5 — a média de uma amostra pequena é ruído estatístico, não sinal. Volume de matrículas (QT_MAT_MED) entra como contexto, não como score — mesmo tratamento dado ao PIB per capita nas versões anteriores deste projeto.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escolas de destaque, por cidade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534924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1188720"/>
                <a:gridCol w="1188720"/>
                <a:gridCol w="1005840"/>
                <a:gridCol w="13716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ENEM méd.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Santo Agostinho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Magnum Agostiniano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Logosófico González Pecotche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 SEB Unimaster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 Horizonte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Olimpo BH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Marília Mattoso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Instituto Gaylussac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ISJB - Col. Salesiano Região Oceânica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e Curso Pensi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Niterói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Salesiano Santa Rosa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Escola São Domingos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1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Primeiro Mundo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Leonardo da Vinci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Colégio Salesiano Jardim Camburi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 de Ensino Charles Darwin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7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revelam — e o que não capturam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36776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36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46304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Vínculo escola-participante mudou em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146304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~37% dos participantes do ENEM têm escola vinculada (quem está cursando). Até 2023 os microdados vinham em arquivo único; em 2025 os arquivos deixaram de ser linkáveis por pessoa — mudança documentada, não erro de leitura.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16936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16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74320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regional na adesão ao ENEM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9320" y="274320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praças com forte vestibular próprio (SP: USP, Unicamp, Unesp, transferências Unifesp/UFABC), parte dos melhores alunos de escolas de elite pode priorizar essas provas — a média ENEM pode subestimar essas escolas.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97096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970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02336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“Salas vitrine” de redes de ensino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9320" y="402336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pequenas de uma mesma rede podem inflar a média (ex.: Colégio de Aplicação Farias Brito, 5 salas, média muito acima das unidades-irmãs). Confirmado com dado real; não afeta o Top 15 apresentado, mas é padrão nacional não resolvido.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477256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4772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5303520"/>
            <a:ext cx="4297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dado do Censo 2025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5303520"/>
            <a:ext cx="5486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salas está top-codado em 202 nesta edição (12 escolas distintas, mesmo valor exato) — por isso o porte usa matrículas, não salas, como métrica principal.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1E2A3F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ADICIONAL — NÃO FAZ PARTE DA RESPOSTA FORMAL AO CASE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do case: o que este mapeamento também mostra para a base atual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lente, aplicada ao portfólio atual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cidades e escolas mapeadas aqui não servem só para prospecção externa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82296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11680"/>
            <a:ext cx="3026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Cross-sell orientado por dado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926080"/>
            <a:ext cx="302666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8.095 escolas elegíveis e seus scores de destaque podem ser cruzados com a base de mantenedores já-clientes (CRM interno) para priorizar onde aprofundar Conviver e Integrar, Cosmos e demais produtos — sem custo de aquisição, usando dado que a Poliedro já possui.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691640"/>
            <a:ext cx="3611880" cy="82296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2011680"/>
            <a:ext cx="3026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Prestígio acadêmico como argumento de venda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81728" y="2926080"/>
            <a:ext cx="302666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de alto score ENEM são candidatas naturais ao P+ e ao Cosmos: o diagnóstico de gargalos pedagógicos reforça exatamente o resultado que já as coloca em destaque — argumento de retenção, não só de aquisição.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1E2A3F"/>
          </a:solidFill>
          <a:ln w="9525">
            <a:solidFill>
              <a:srgbClr val="2E3D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691640"/>
            <a:ext cx="3611880" cy="82296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522208" y="2011680"/>
            <a:ext cx="3026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Saúde socioemocional como diferencial competitivo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22208" y="2926080"/>
            <a:ext cx="302666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praças de alta concentração de escolas de prestígio (Top 10 da Parte 1), a disputa entre redes é intensa — Conviver e Integrar entrega um valor intangível difícil de copiar rápido pela concorrência (SAS, Arco), reforçando fit justamente onde a disputa por reputação é mais acirrada.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Poliedro — Inteligência de Mercado  |  Censo Escolar INEP 2025 + Microdados ENEM 2025 + IBGE (Censo 2022)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A3F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sugerido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Cruzar este ranking com a presença atual do Poliedro e do Polígono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10 cidades prioritárias e as escolas de destaque mostram onde o mercado de prestígio privado já está mais concentrado. O passo seguinte é sobrepor a presença de unidades próprias e de concorrentes diretos nessas praças para identificar os gaps reais de cobertura — não apenas onde o mercado é bom, mas onde ele está desatendido.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completa, código-fonte e limitações documentadas no material em anexo.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2026-07-20T22:18:07Z</dcterms:created>
  <dcterms:modified xsi:type="dcterms:W3CDTF">2026-07-20T22:18:07Z</dcterms:modified>
</cp:coreProperties>
</file>
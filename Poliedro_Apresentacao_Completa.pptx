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103120"/>
            <a:ext cx="5486400" cy="5486400"/>
          </a:xfrm>
          <a:prstGeom prst="ellipse">
            <a:avLst/>
          </a:prstGeom>
          <a:solidFill>
            <a:srgbClr val="1E2A3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657600" cy="3657600"/>
          </a:xfrm>
          <a:prstGeom prst="ellipse">
            <a:avLst/>
          </a:prstGeom>
          <a:solidFill>
            <a:srgbClr val="D4AF37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80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DE MERCADO — NOVOS NEGÓCIOS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Construir Share de Prestígio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 de Escolas Privadas com Alto Potencial Econômico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R$80M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51389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do Conviver e Integrar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114800" y="51389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Desafiantes (foco)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0664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406640" y="51389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prioritárias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Site Institucional Poliedro · Censo Escolar INEP 2025 · Microdados ENEM 2025 · IBGE  · Análise de Mercado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Maximizando LTV: Cross-Sell e Upsell Sem Aumentar o CAC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produtos, um mesmo cliente — o faturamento cresce sem gastar mais em aquisição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452628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Conviver e Integrar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Socioemocional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240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Mental, Acolhimento e Combate ao Bullying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receita nova e autofinanciável via repasse de material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com forte apelo socioemocional reduzem o churn e aumentam a indicação orgânica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um valor intangível altíssimo: a segurança de que o filho está sendo desenvolvido integralmente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00200"/>
            <a:ext cx="2697480" cy="452628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8745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Cosmos + P+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3957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e Diagnóstico Pedagógico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880360"/>
            <a:ext cx="2240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de IA que apoia o professor e o P+, que diagnostica gargalos pedagógicos por turma.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detalhes nos próximos slides.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600200"/>
            <a:ext cx="2697480" cy="452628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Bilinguismo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3957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Diferenciação Curricular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2240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de famílias de padrão mais alto e diferenciação frente a escolas monolíngues.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89720" y="1600200"/>
            <a:ext cx="2697480" cy="452628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18745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Polígono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418320" y="23957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Público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18320" y="2880360"/>
            <a:ext cx="2240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time editorial do Poliedro, material mais enxuto e ticket mais acessível — não é upsell, é a porta de entrada para escolas fora do perfil de preço do sistema principal.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demanda que hoje não fecha negócio com a Poliedro por preço, sem canibalizar a marca premium.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Potencial Represado de até R$80M na Base Atual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olhar pra fora: quanto ainda dá pra crescer com quem já é cliente?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22960" y="2450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0" y="24505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1E2A3F"/>
          </a:solidFill>
          <a:ln w="12700">
            <a:solidFill>
              <a:srgbClr val="2E3D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43200"/>
            <a:ext cx="5166360" cy="777240"/>
          </a:xfrm>
          <a:prstGeom prst="roundRect">
            <a:avLst>
              <a:gd name="adj" fmla="val 14118"/>
            </a:avLst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7432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R$ 40M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0" y="2743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9AA7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R$ 80M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meta de curto/médio prazo (50% de adesão da base atual)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teto de mercado se 100% da base aderir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medida que escolas forem aderindo ao Conviver e Integrar, esta barra é o KPI natural de acompanhamento comercial.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28032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230 mil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51560" y="539496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na base (site institucional)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25112" y="4709160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4828032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R$300-450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53712" y="539496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ticket/aluno/ano cobrado pela concorrência (pesquisa própria)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27264" y="4709160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55864" y="4828032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055864" y="539496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de adesão de curto prazo usada no SOM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6172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com premissas explícitas.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ta/outputs/cosmos_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0"/>
            <a:ext cx="56509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DE DIFERENCIAÇÃO — IA APLICADA À SALA DE AULA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94360" y="8686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Expansão do Cosmos: IA que Reduz a Sobrecarga do Professor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6916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cosmos está sempre em expansão — o hub de IA da Poliedro também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é o hub de IA integrado ao P+, a ferramenta de diagnóstico pedagógico da Poliedro: identifica dificuldades por turma e aluno, e apoia o professor na adaptação de atividades para alunos com TDAH, TEA e demais perfis de inclusão — aliviando o que hoje é uma das maiores fontes de sobrecarga do educador na escola particular.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4206240"/>
            <a:ext cx="5577840" cy="1874520"/>
          </a:xfrm>
          <a:prstGeom prst="roundRect">
            <a:avLst>
              <a:gd name="adj" fmla="val 4878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437083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Tese de posicionamento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70916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(SAS, Arco) usam IA de forma pontual — correção automática de redação. O Cosmos amplia o espectro de alunos atendidos e a carga pedagógica coberta.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isto é um argumento de diferenciação, não uma medição comparativa de aprovação — esse dado não está disponível.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2743200"/>
            <a:ext cx="6400800" cy="6400800"/>
          </a:xfrm>
          <a:prstGeom prst="ellipse">
            <a:avLst/>
          </a:prstGeom>
          <a:solidFill>
            <a:srgbClr val="1E2A3F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II — O LIMITE DO CRESCIMENTO INTERNO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 com 100% de Adesão, Existe um Teto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4892040" cy="2651760"/>
          </a:xfrm>
          <a:prstGeom prst="roundRect">
            <a:avLst>
              <a:gd name="adj" fmla="val 3448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697480"/>
            <a:ext cx="4343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301752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Crescer dentro da base atual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3703320"/>
            <a:ext cx="4343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mil alunos já matriculados na rede. Mesmo com 100% de adesão ao Conviver e Integrar, o teto de receita adicional é o TAM de R$80M já mostrado.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3611880"/>
            <a:ext cx="822960" cy="82296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0" y="3611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178040" y="2468880"/>
            <a:ext cx="4709160" cy="2651760"/>
          </a:xfrm>
          <a:prstGeom prst="roundRect">
            <a:avLst>
              <a:gd name="adj" fmla="val 3448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269748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52360" y="301752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Conquistar novas escolas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52360" y="3703320"/>
            <a:ext cx="4160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muda: não é mais "como vender mais pra quem já é cliente", é "quais das milhares de escolas privadas do Brasil têm o perfil certo pra se tornar cliente".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4864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essa pergunta que o restante desta apresentação responde — com rigor de dados públicos (Censo Escolar INEP, ENEM, IBGE).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Delimitar a Busca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34440"/>
            <a:ext cx="82296" cy="117043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34416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 Geográfico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09928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população total acima de 100.000 habitantes (filtro do case) — recorte nacional, sem restrição de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234440"/>
            <a:ext cx="2788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319 municípios no Brasil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478024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78024"/>
            <a:ext cx="82296" cy="117043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8775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 de Escola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9535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Privada, não-filantrópica (exclui categoria 4 — APAE e similares), em atividade, com ao menos Ensino Médio (Censo 2025).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0" y="2478024"/>
            <a:ext cx="2788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8.095 escolas elegíveis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21608"/>
            <a:ext cx="82296" cy="117043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83133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Fontes Consultadas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197096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 INEP 2025 e Microdados ENEM 2025 — ambas de 2025, evitando descompasso de ano entre bases — mais IBGE (Censo 2022, renda e população).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0" y="3721608"/>
            <a:ext cx="2788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bases + IBGE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96519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965192"/>
            <a:ext cx="82296" cy="117043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07492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Após o Filtro de População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" y="54406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 dos 319 municípios &gt;100k têm ao menos 1 escola elegível (exceção: Ibirité/MG).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0" y="4965192"/>
            <a:ext cx="2788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5.647 escolas no recorte final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Potencial de uma Cidade Depende de 3 Fatores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média ponderada de 3 critérios, normalizados por percentil entre os 318 municípios elegíveis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4526280"/>
          </a:xfrm>
          <a:prstGeom prst="roundRect">
            <a:avLst>
              <a:gd name="adj" fmla="val 2532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1005840" cy="100584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1089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Potencial Socioeconômico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2971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domiciliar per capita alta (Censo 2022, Tabela 10296) + população 0-17 anos. Mede poder de compra real das famílias — não PIB per capita, que mistura riqueza industrial com renda doméstica.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611880" cy="4526280"/>
          </a:xfrm>
          <a:prstGeom prst="roundRect">
            <a:avLst>
              <a:gd name="adj" fmla="val 2532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920240"/>
            <a:ext cx="1005840" cy="100584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920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31089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de Escolas Relevantes já Instaladas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3931920"/>
            <a:ext cx="2971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 escolas privadas elegíveis no município. A pergunta não é só “onde tem dinheiro” — é onde já existe concentração de mercado educacional privado.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600200"/>
            <a:ext cx="3611880" cy="4526280"/>
          </a:xfrm>
          <a:prstGeom prst="roundRect">
            <a:avLst>
              <a:gd name="adj" fmla="val 2532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1920240"/>
            <a:ext cx="1005840" cy="100584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9640" y="1920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49640" y="31089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Acadêmica da Praça (ENEM)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49640" y="3931920"/>
            <a:ext cx="2971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ENEM 2025 das escolas elegíveis do município. Proxy mais direto de prestígio acadêmico já reconhecido.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10 Cidades Onde Renda e Prestígio Mais se Concentram</a:t>
            </a:r>
            <a:endParaRPr lang="en-US" sz="2800" dirty="0"/>
          </a:p>
        </p:txBody>
      </p:sp>
      <p:pic>
        <p:nvPicPr>
          <p:cNvPr id="3" name="Image 0" descr="data/outputs/grafico_top10_cidade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1014984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Praças Concentradas Superam Capitais Diluídas</a:t>
            </a:r>
            <a:endParaRPr lang="en-US" sz="2800" dirty="0"/>
          </a:p>
        </p:txBody>
      </p:sp>
      <p:pic>
        <p:nvPicPr>
          <p:cNvPr id="3" name="Image 0" descr="data/outputs/grafico_dispersao_cidade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6949440" cy="5532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35240" y="1188720"/>
            <a:ext cx="4023360" cy="4846320"/>
          </a:xfrm>
          <a:prstGeom prst="roundRect">
            <a:avLst>
              <a:gd name="adj" fmla="val 2273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95528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Chama Atenção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955280" y="1920240"/>
            <a:ext cx="34290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e Rio ficam fora do Top 10 — não por serem mercados fracos, mas por serem heterogêneos: riqueza e pobreza lado a lado diluem o percentil.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Praças menores e concentradas (Niterói, Florianópolis, Vitória) pontuam mais alto: a riqueza ali é mais homogênea.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José dos Campos é a sede do Poliedro — sua presença no Top 10 provavelmente reflete domínio de marca já existente, não oportunidade nova. Ler como "defender", não "conquistar".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Toda Escola de Prestígio Representa a Mesma Oportunidade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às 4 cidades de maior score (Belo Horizonte, Niterói, Goiânia, Vitória) — topo do ranking anterior, cobrindo as duas versões do critério de qualidade ENEM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926080"/>
          </a:xfrm>
          <a:prstGeom prst="roundRect">
            <a:avLst>
              <a:gd name="adj" fmla="val 3125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965960" y="187452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Acadêmica — ENEM 2025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geral das 5 áreas dos participantes vinculados à escola. Resultado externo e verificável, o que constrói reputação publicamente visível.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2926080"/>
          </a:xfrm>
          <a:prstGeom prst="roundRect">
            <a:avLst>
              <a:gd name="adj" fmla="val 3125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874520"/>
            <a:ext cx="914400" cy="91440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874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0" y="187452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Infraestrutura de Prestígio — Censo 2025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88036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0-5: laboratório de ciências, laboratório de informática, biblioteca, quadra coberta, auditório.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892040"/>
            <a:ext cx="10424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confiabilidade: escolas com menos de 10 participantes do ENEM vinculados não competem pelo Top 5. Volume de matrículas entra como contexto, não como score — mesmo tratamento dado ao PIB per capita nas versões anteriores deste projeto.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Escolas que Melhor Traduzem Prestígio Acadêmico Local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por cidade — as duas versões (simples e ponderada) do critério de qualidade concordam nas 2 primeiras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54406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1848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3611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434840" y="196596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166360" y="196596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77240" y="21671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Santo Agostinho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216712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166360" y="216712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44144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Magnum Agostiniano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34840" y="24414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44144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27157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Logosófico González Pecotche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434840" y="27157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166360" y="271576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299008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SEB Unimaster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34840" y="29900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686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166360" y="299008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32644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Olimpo BH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34840" y="3264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166360" y="326440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72200" y="150876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1508760"/>
            <a:ext cx="54406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161848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Niterói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0" y="1965960"/>
            <a:ext cx="3611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058400" y="196596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0789920" y="196596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400800" y="21671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Marília Mattoso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058400" y="216712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789920" y="216712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244144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Gaylussac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24414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789920" y="244144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0.951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0" y="27157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ISJB - Col. Salesiano Região Oceânica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058400" y="27157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789920" y="271576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299008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e Curso Pensi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0058400" y="29900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759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789920" y="299008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0.868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00800" y="32644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Salesiano Santa Rosa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0058400" y="3264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644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789920" y="326440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0.857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16052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160520"/>
            <a:ext cx="54406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" y="427024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Goiânia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777240" y="4617720"/>
            <a:ext cx="3611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434840" y="461772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166360" y="46177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77240" y="481888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Arena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434840" y="4818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695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166360" y="481888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7240" y="50932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Progressivo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434840" y="50932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677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166360" y="509320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0.925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77240" y="53675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Prevest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434840" y="536752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671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166360" y="536752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77240" y="564184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Visão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434840" y="56418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670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166360" y="564184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0.917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77240" y="5916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JAO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434840" y="59161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661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166360" y="591616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0.901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77240" y="6272784"/>
            <a:ext cx="4983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Arena já é parceira Poliedro (depoimento no site institucional) — cidade já defendida, não é alvo de prospecção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6172200" y="416052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172200" y="4160520"/>
            <a:ext cx="54406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70" name="Text 68"/>
          <p:cNvSpPr/>
          <p:nvPr/>
        </p:nvSpPr>
        <p:spPr>
          <a:xfrm>
            <a:off x="6400800" y="427024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Vitória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6400800" y="4617720"/>
            <a:ext cx="3611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058400" y="461772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0789920" y="46177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6400800" y="481888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São Domingos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0058400" y="4818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713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0789920" y="481888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0.950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6400800" y="50932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Primeiro Mundo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0058400" y="50932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702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10789920" y="509320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0.946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400800" y="53675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Leonardo da Vinci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0058400" y="536752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0789920" y="536752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0.942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400800" y="564184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Colégio Salesiano Jardim Camburi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10058400" y="56418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10789920" y="564184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0.937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6400800" y="5916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Ensino Charles Darwin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0058400" y="59161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686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789920" y="591616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0.933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Tabela Completa Por Trás do Score de Cada Escola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20 escolas do Top 5 × 4 cidades — todas as variáveis usadas no score_destaque, lado a lado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3840480"/>
                <a:gridCol w="914400"/>
                <a:gridCol w="1005840"/>
                <a:gridCol w="685800"/>
                <a:gridCol w="822960"/>
                <a:gridCol w="960120"/>
                <a:gridCol w="777240"/>
              </a:tblGrid>
              <a:tr h="21553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Part. ENEM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 ENEM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 (0-5)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Matríc. 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 Horizonte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Santo Agostinho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0.954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 Horizonte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Magnum Agostiniano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0.941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 Horizonte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Logosófico González Pecotche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0.940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 Horizonte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SEB Unimaster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0.933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 Horizonte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Olimpo BH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0.931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Niterói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Marília Mattoso*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202*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0.955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Niterói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Instituto Gaylussac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0.951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Niterói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ISJB - Col. Salesiano Região Oceânica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0.887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Niterói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e Curso Pensi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0.868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Niterói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Salesiano Santa Rosa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0.857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Goiânia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Arena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0.942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Goiânia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Progressivo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0.925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Goiânia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Prevest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0.918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Goiânia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Visão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0.916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Goiânia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JAO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0.901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Vitória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São Domingos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0.950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Vitória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Primeiro Mundo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0.946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Vitória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Leonardo da Vinci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0.942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Vitória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Colégio Salesiano Jardim Camburi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0.937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F"/>
                    </a:solidFill>
                  </a:tcPr>
                </a:tc>
              </a:tr>
              <a:tr h="2155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Vitória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 de Ensino Charles Darwin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7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4AF3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0.933</a:t>
                      </a:r>
                      <a:endParaRPr lang="en-US" sz="8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D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6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*Colégio Marília Mattoso reporta 202 salas para 80 matrículas no Médio — valor provavelmente top-codado pelo Censo: outras 12 escolas no Brasil, sem nenhuma relação entre si, reportam esse mesmo exato número (não afeta o score, que usa o índice de infraestrutura, não a contagem de salas).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do Case: de 8.095 Escolas a 869 Golden Leads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case pedia 3 cidades — aplicamos a mesma régua ao Brasil inteiro (recorte &gt;100k hab.) pra abrir uma lista de prospecção comercial</a:t>
            </a:r>
            <a:endParaRPr lang="en-US" sz="1200" dirty="0"/>
          </a:p>
        </p:txBody>
      </p:sp>
      <p:pic>
        <p:nvPicPr>
          <p:cNvPr id="4" name="Image 0" descr="data/outputs/funil_esco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156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Tese Comercial: as 330 “Desafiantes” São o Alvo Primário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869 Golden Leads não são uma lista só — a posição de cada escola na própria cidade define a prioridade</a:t>
            </a:r>
            <a:endParaRPr lang="en-US" sz="1250" dirty="0"/>
          </a:p>
        </p:txBody>
      </p:sp>
      <p:pic>
        <p:nvPicPr>
          <p:cNvPr id="4" name="Image 0" descr="data/outputs/segmentacao_co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1115568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71500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comercial, não comprovada por dado (o Censo não informa o sistema de ensino atual de cada escola): a Desafiante tem motivo pra buscar uma vantagem sobre a líder, que já é referência e tem menos urgência de trocar.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Já Sabemos Onde Começar: Bairro a Bairro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Golden Leads das 10 cidades prioritárias, geocodificadas por CEP (ViaCEP)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342900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local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48716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Santo Agostinho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Desafiantes (2º-5º)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Lourdes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Efigênia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Buritis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Mangabeiras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29000" y="1600200"/>
            <a:ext cx="2697480" cy="342900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8288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Niterói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22402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local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248716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Domingos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297180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Desafiantes (2º-5º)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3218688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Francisco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Piratininga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Icaraí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Rosa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600200"/>
            <a:ext cx="2697480" cy="342900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18288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Goiânia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22402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local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37960" y="248716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Bueno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297180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Desafiantes (2º-5º)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37960" y="3218688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Jardim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Central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Bueno*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Jaó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89720" y="1600200"/>
            <a:ext cx="2697480" cy="3429000"/>
          </a:xfrm>
          <a:prstGeom prst="roundRect">
            <a:avLst>
              <a:gd name="adj" fmla="val 339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89720" y="1600200"/>
            <a:ext cx="2697480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27" name="Text 25"/>
          <p:cNvSpPr/>
          <p:nvPr/>
        </p:nvSpPr>
        <p:spPr>
          <a:xfrm>
            <a:off x="9418320" y="18288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Vitória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418320" y="22402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local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418320" y="248716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 Ferreira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297180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Desafiantes (2º-5º)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418320" y="3218688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Praia do Canto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Lúcia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Jardim Camburi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da Praia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120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321808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qualitativa: líder e desafiantes caem nos bairros mais tradicionais das 4 cidades — nenhuma Golden Lead é periférica. *Em Goiânia, líder e desafiante (Col. Visão) dividem o Setor Bueno. Bairro não é renda comprovada; cruzar com setor censitário do IBGE é o próximo passo, fora do escopo desta entrega.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 Executivo: o que os Dados Revelam e o que Não Capturam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499616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996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325880"/>
            <a:ext cx="42976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Vínculo Escola-Participante Mudou em 2025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89320" y="1325880"/>
            <a:ext cx="5486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~36% dos participantes do ENEM têm escola vinculada — isso é por aluno, não por escola. Das 5.647 elegíveis, 73% (4.121) têm média confiável (≥10 vinculados). As 1.526 restantes são majoritariamente escolas menores (mediana de 31 matrículas no Médio, ante 114 das confiáveis) — 93% delas têm zero participante vinculado, não “poucos”.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2478024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4320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2569464"/>
            <a:ext cx="42976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Viés Regional na Adesão ao ENEM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89320" y="2569464"/>
            <a:ext cx="5486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Praças com vestibular próprio forte (SP: USP, Unicamp) podem ter escolas de elite subestimadas na média ENEM.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86784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98678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3813048"/>
            <a:ext cx="42976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“Salas Vitrine” de Redes de Ensino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3813048"/>
            <a:ext cx="5486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nacional, não isolado: 4 grupos confirmados (ex. Farias Brito, Fortaleza/CE — uma unidade com 220 alunos e média 656 convive com outra do mesmo grupo, 30 alunos e média 793). Não afeta as 20 escolas do Top 5×4 aqui, mas atinge ~4 das 869 Golden Leads.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6519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230368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2303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00200" y="5056632"/>
            <a:ext cx="42976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Segmento Comercial não é o Sistema de Ensino Real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89320" y="5056632"/>
            <a:ext cx="5486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tag Líder/Desafiante usa só posição acadêmica. Cerca de metade já usa sistema concorrente — checagem individual é necessária antes de prospectar.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754880"/>
            <a:ext cx="5486400" cy="5486400"/>
          </a:xfrm>
          <a:prstGeom prst="ellipse">
            <a:avLst/>
          </a:prstGeom>
          <a:solidFill>
            <a:srgbClr val="1E2A3F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IV — PLANO DE AÇÃO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Pipeline de Dados à Prospecção de Campo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74520"/>
            <a:ext cx="3630168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1-2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30815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308152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paralelo — não depende de validação, começa já: campanha de adesão ao Conviver e Integrar na safra de rematrícula (ago-set). No lado externo: selecionar ~15 “Desafiantes” em BH, Niterói e Vitória para piloto — confirmar manualmente o sistema de ensino atual antes de qualquer oferta.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87452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874520"/>
            <a:ext cx="3630168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4626864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26864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26864" y="2423160"/>
            <a:ext cx="30815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26864" y="3017520"/>
            <a:ext cx="308152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para as 330 “Desafiantes” das 10 cidades prioritárias — exceto cidades onde já temos presença confirmada (ex.: Goiânia, via Colégio Arena). Cruzar com a carteira atual de escolas parceiras para priorizar cross-sell de Conviver e Integrar e Cosmos.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56448" y="187452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74520"/>
            <a:ext cx="3630168" cy="73152"/>
          </a:xfrm>
          <a:prstGeom prst="roundRect">
            <a:avLst/>
          </a:prstGeom>
          <a:solidFill>
            <a:srgbClr val="D4AF37"/>
          </a:solidFill>
          <a:ln/>
        </p:spPr>
      </p:sp>
      <p:sp>
        <p:nvSpPr>
          <p:cNvPr id="19" name="Text 17"/>
          <p:cNvSpPr/>
          <p:nvPr/>
        </p:nvSpPr>
        <p:spPr>
          <a:xfrm>
            <a:off x="8430768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30768" y="2103120"/>
            <a:ext cx="3081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2+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30768" y="2423160"/>
            <a:ext cx="30815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30768" y="3017520"/>
            <a:ext cx="308152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Levar o piloto de geolocalização por bairro (hoje 167 escolas) às 869 Golden Leads nacionais. Sobrepor a presença de concorrentes por cidade para fechar os gaps reais de cobertura.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completa, código-fonte e limitações documentadas no material em anexo.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Inteligência Descritiva à Inteligência Preditiva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depende da anterior — do pipeline atual a um modelo preditivo de prospecção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63624"/>
            <a:ext cx="594360" cy="59436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6362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517904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Reproduzível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554480" y="1883664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897880" y="1517904"/>
            <a:ext cx="5532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Censo Escolar, ENEM e IBGE — score de cidades e escolas, funil, segmentação comercial e piloto de geolocalização, documentado e pronto para reexecução.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404872"/>
            <a:ext cx="594360" cy="59436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4048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54480" y="235915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Inteligência Comercial em Tempo Real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554480" y="2724912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897880" y="2359152"/>
            <a:ext cx="5532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interativo (Power BI): filtros por UF, cidade e segmento comercial, para o time comercial explorar os dados sem depender de planilha.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145536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246120"/>
            <a:ext cx="594360" cy="59436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2461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Microsegmentação Geográfica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554480" y="3566160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897880" y="3200400"/>
            <a:ext cx="5532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o CEP já geocodificado com o setor censitário do IBGE (join espacial via geopandas) — fecha o piloto de bairros com renda de verdade, não só leitura qualitativa.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98678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E2A3F"/>
          </a:solidFill>
          <a:ln w="9525">
            <a:solidFill>
              <a:srgbClr val="2E3D5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087368"/>
            <a:ext cx="594360" cy="59436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08736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554480" y="4041648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Visibilidade da Concorrência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554480" y="4407408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897880" y="4041648"/>
            <a:ext cx="5532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Geolocalizar unidades de sistemas concorrentes (Arco, SAS, Eleva etc.) nas 10 cidades prioritárias para achar os gaps reais de cobertura.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82803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2E2712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4928616"/>
            <a:ext cx="594360" cy="594360"/>
          </a:xfrm>
          <a:prstGeom prst="ellipse">
            <a:avLst/>
          </a:prstGeom>
          <a:solidFill>
            <a:srgbClr val="0F1626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2861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54480" y="488289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Preditivo de Prospecção (Lookalike)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554480" y="5248656"/>
            <a:ext cx="4251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FUTURO — PRÓXIMAS SEMANAS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897880" y="4882896"/>
            <a:ext cx="5532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dado interno de engajamento dos clientes atuais do Poliedro para treinar um modelo que aponta escolas com o mesmo perfil dos melhores clientes já existentes. Depende de dado interno que não temos hoje — não incluído nesta entrega.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reduz a dependência de decisões intuitivas e aumenta a precisão da prospecção comercial.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519672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Poliedro — Inteligência de Mercado  |  Censo Escolar INEP 2025 + Microdados ENEM 2025 + IBGE (Censo 2022)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521440" y="65196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2026-07-22T05:32:19Z</dcterms:created>
  <dcterms:modified xsi:type="dcterms:W3CDTF">2026-07-22T05:32:19Z</dcterms:modified>
</cp:coreProperties>
</file>
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26BF902-218F-45EE-A817-745FC5EAC915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5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ABC8D8E-C3DD-4802-8877-B773C430966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6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17DACF-F1F6-41D4-A1C9-B0BF5B1C686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7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D7D0B5-5DAE-4DFB-A30E-2A049E1A456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8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231667-0645-4330-99CD-5836AE3FC02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9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23B2DB-747E-4D60-9FB4-017664D37F6A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20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1D744B-D81C-40B4-B3F2-D1484819D424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21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5780D3-9077-4F9D-84FC-EB2792B14BE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22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05E844-139B-4A81-A2B7-5AE2C4A46B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23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2832DB-E198-45E4-924F-3E5BC6EF56C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24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CA4516-B133-451A-B0A3-15B4D2E142D7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25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434939-92ED-4F71-8B49-EA615B8050C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26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AEB2DA-938B-44B5-8146-E6C57555367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7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A2D201-EEBD-4DDA-87A7-4D07E515397C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857160"/>
            <a:ext cx="5486040" cy="231408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8"/>
          </p:nvPr>
        </p:nvSpPr>
        <p:spPr>
          <a:xfrm>
            <a:off x="3884760" y="6513840"/>
            <a:ext cx="297144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456D64-049C-4521-9E37-B3617845297E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pt-BR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E6553E-155D-437D-B1C5-B24C332D7F4D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pt-BR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pt-BR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pt-BR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286D4F6-5E7D-4311-B772-D97306A74E11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D7DDA4-10A9-4E36-89E7-A78C5949BA30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indent="0" algn="l">
              <a:buNone/>
              <a:defRPr lang="pt-BR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78DCA86-11F4-4826-836D-EECC8345C731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4DA9B4-2B4A-4568-A4D1-93063C2CA93C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EC418C-F2F7-4BFB-925C-2420FD17A25C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FDFF5A3-E8FB-4CDC-B55A-ED09CA394F67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0000" lnSpcReduction="19999"/>
          </a:bodyPr>
          <a:lstStyle>
            <a:lvl1pPr indent="0" algn="l">
              <a:buNone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DFA0B7-42D8-4B58-BB83-6E94A92CCEB8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pt-BR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60AAE6-6DBD-4EE1-9196-276F9035D35F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>
            <a:lvl1pPr indent="0" algn="l">
              <a:buNone/>
              <a:defRPr lang="pt-BR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FC7AD2-13C1-43FD-9B10-1A975C3EA7E4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F15754-1B59-48E3-A0AA-3B2D70AC4997}" type="slidenum">
              <a:rPr lang="pt-B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7;p15"/>
          <p:cNvSpPr/>
          <p:nvPr/>
        </p:nvSpPr>
        <p:spPr>
          <a:xfrm>
            <a:off x="617400" y="1474560"/>
            <a:ext cx="7886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8;p15"/>
          <p:cNvSpPr/>
          <p:nvPr/>
        </p:nvSpPr>
        <p:spPr>
          <a:xfrm>
            <a:off x="617400" y="1817280"/>
            <a:ext cx="7886520" cy="13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Mapeamento de Escolas Privadas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 Alto Potencial Econômico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9;p15"/>
          <p:cNvSpPr/>
          <p:nvPr/>
        </p:nvSpPr>
        <p:spPr>
          <a:xfrm>
            <a:off x="617400" y="3120480"/>
            <a:ext cx="7886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400" b="0" i="1" u="none" strike="noStrike">
                <a:solidFill>
                  <a:srgbClr val="E8C9CE"/>
                </a:solidFill>
                <a:effectLst/>
                <a:uFillTx/>
                <a:latin typeface="Calibri"/>
                <a:ea typeface="Calibri"/>
              </a:rPr>
              <a:t>Inteligência de Dados Aplicada a Novos Negócios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Google Shape;60;p15"/>
          <p:cNvCxnSpPr/>
          <p:nvPr/>
        </p:nvCxnSpPr>
        <p:spPr>
          <a:xfrm>
            <a:off x="617040" y="3600360"/>
            <a:ext cx="1509120" cy="360"/>
          </a:xfrm>
          <a:prstGeom prst="straightConnector1">
            <a:avLst/>
          </a:prstGeom>
          <a:ln w="25400">
            <a:solidFill>
              <a:srgbClr val="C99A3B"/>
            </a:solidFill>
            <a:round/>
          </a:ln>
        </p:spPr>
      </p:cxnSp>
      <p:sp>
        <p:nvSpPr>
          <p:cNvPr id="42" name="Google Shape;61;p15"/>
          <p:cNvSpPr/>
          <p:nvPr/>
        </p:nvSpPr>
        <p:spPr>
          <a:xfrm>
            <a:off x="617400" y="3737520"/>
            <a:ext cx="788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C9B4B9"/>
                </a:solidFill>
                <a:effectLst/>
                <a:uFillTx/>
                <a:latin typeface="Calibri"/>
                <a:ea typeface="Calibri"/>
              </a:rPr>
              <a:t>Guilherme Fontoura   |   Apresentação Executiva   |   Julho 2026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7;p16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68;p16"/>
          <p:cNvSpPr/>
          <p:nvPr/>
        </p:nvSpPr>
        <p:spPr>
          <a:xfrm>
            <a:off x="411480" y="514440"/>
            <a:ext cx="7543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Onde podemos chegar?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69;p16"/>
          <p:cNvSpPr/>
          <p:nvPr/>
        </p:nvSpPr>
        <p:spPr>
          <a:xfrm>
            <a:off x="411480" y="960120"/>
            <a:ext cx="754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Potencial represado na base de clientes atual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70;p16"/>
          <p:cNvSpPr/>
          <p:nvPr/>
        </p:nvSpPr>
        <p:spPr>
          <a:xfrm>
            <a:off x="411480" y="1440360"/>
            <a:ext cx="3977280" cy="30859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71;p16"/>
          <p:cNvSpPr/>
          <p:nvPr/>
        </p:nvSpPr>
        <p:spPr>
          <a:xfrm>
            <a:off x="651600" y="1611720"/>
            <a:ext cx="349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CENÁRIO ATUAL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72;p16"/>
          <p:cNvSpPr/>
          <p:nvPr/>
        </p:nvSpPr>
        <p:spPr>
          <a:xfrm>
            <a:off x="651600" y="1954440"/>
            <a:ext cx="34974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54160" indent="-254160">
              <a:lnSpc>
                <a:spcPct val="100000"/>
              </a:lnSpc>
              <a:buClr>
                <a:srgbClr val="4A4A4A"/>
              </a:buClr>
              <a:buFont typeface="Calibri"/>
              <a:buChar char="✗"/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Y,Y% das nossas escolas utilizam todo o ecossistema Poliedro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4A4A4A"/>
              </a:buClr>
              <a:buFont typeface="Calibri"/>
              <a:buChar char="✗"/>
            </a:pPr>
            <a:r>
              <a:rPr lang="pt-BR" sz="10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TAM:</a:t>
            </a: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 aplicando o ecossistema completo apenas na base atual, atingiríamos R$ X.XM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4A4A4A"/>
              </a:buClr>
              <a:buFont typeface="Calibri"/>
              <a:buChar char="✗"/>
            </a:pPr>
            <a:r>
              <a:rPr lang="pt-BR" sz="10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Esforço comercial disperso:</a:t>
            </a: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 ao nos colocarmos apenas como vendedores de “apostila”, deixamos espaço para outras empresas venderem os serviços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73;p16"/>
          <p:cNvSpPr/>
          <p:nvPr/>
        </p:nvSpPr>
        <p:spPr>
          <a:xfrm>
            <a:off x="4595040" y="1440360"/>
            <a:ext cx="3977280" cy="3085920"/>
          </a:xfrm>
          <a:prstGeom prst="roundRect">
            <a:avLst>
              <a:gd name="adj" fmla="val 1778"/>
            </a:avLst>
          </a:prstGeom>
          <a:solidFill>
            <a:srgbClr val="24305E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74;p16"/>
          <p:cNvSpPr/>
          <p:nvPr/>
        </p:nvSpPr>
        <p:spPr>
          <a:xfrm>
            <a:off x="4834800" y="1611720"/>
            <a:ext cx="349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A SOLUÇÃO INTELIGENTE DE MERCADO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75;p16"/>
          <p:cNvSpPr/>
          <p:nvPr/>
        </p:nvSpPr>
        <p:spPr>
          <a:xfrm>
            <a:off x="4834800" y="1954440"/>
            <a:ext cx="34974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54160" indent="-254160">
              <a:lnSpc>
                <a:spcPct val="100000"/>
              </a:lnSpc>
              <a:buClr>
                <a:srgbClr val="FFFFFF"/>
              </a:buClr>
              <a:buFont typeface="Calibri"/>
              <a:buChar char="✓"/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Recolocação estratégica: </a:t>
            </a: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mantenedor não compra apenas um “sistema de ensino” — ele compra captação de alunos e reputação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FFFFFF"/>
              </a:buClr>
              <a:buFont typeface="Calibri"/>
              <a:buChar char="✓"/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Foco no bolso dos pais: </a:t>
            </a: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venda consultiva de valor agregado (cross-sell e upsell) que aumenta o LTV e justifica o investimento das famílias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FFFFFF"/>
              </a:buClr>
              <a:buFont typeface="Calibri"/>
              <a:buChar char="✓"/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Segmentação adequada:</a:t>
            </a: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direcionar o produto certo (Conviver e Integrar, Cosmos, Polígono, Bilinguismo) para o perfil ideal de escola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76;p16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2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2;p17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83;p17"/>
          <p:cNvSpPr/>
          <p:nvPr/>
        </p:nvSpPr>
        <p:spPr>
          <a:xfrm>
            <a:off x="411480" y="514440"/>
            <a:ext cx="7543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Crescimento Interno (LTV)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84;p17"/>
          <p:cNvSpPr/>
          <p:nvPr/>
        </p:nvSpPr>
        <p:spPr>
          <a:xfrm>
            <a:off x="411480" y="960120"/>
            <a:ext cx="754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Conviver e Integrar — cross-selling, custo e saúde mental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85;p17"/>
          <p:cNvSpPr/>
          <p:nvPr/>
        </p:nvSpPr>
        <p:spPr>
          <a:xfrm>
            <a:off x="411480" y="1474560"/>
            <a:ext cx="445320" cy="4453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86;p17"/>
          <p:cNvSpPr/>
          <p:nvPr/>
        </p:nvSpPr>
        <p:spPr>
          <a:xfrm>
            <a:off x="411480" y="1474560"/>
            <a:ext cx="4453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87;p17"/>
          <p:cNvSpPr/>
          <p:nvPr/>
        </p:nvSpPr>
        <p:spPr>
          <a:xfrm>
            <a:off x="1028880" y="145404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Cross-selling e Upselling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88;p17"/>
          <p:cNvSpPr/>
          <p:nvPr/>
        </p:nvSpPr>
        <p:spPr>
          <a:xfrm>
            <a:off x="1028880" y="1735200"/>
            <a:ext cx="7131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Métrica: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Migrar 10% ou 20% da base atual para os novos produtos   </a:t>
            </a:r>
            <a:br>
              <a:rPr sz="1100"/>
            </a:b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Por quê: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O faturamento cresce sem gastar um centavo a mais em aquisição de novos clientes (CAC)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89;p17"/>
          <p:cNvSpPr/>
          <p:nvPr/>
        </p:nvSpPr>
        <p:spPr>
          <a:xfrm>
            <a:off x="411480" y="2537640"/>
            <a:ext cx="445320" cy="4453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90;p17"/>
          <p:cNvSpPr/>
          <p:nvPr/>
        </p:nvSpPr>
        <p:spPr>
          <a:xfrm>
            <a:off x="411480" y="2537640"/>
            <a:ext cx="4453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91;p17"/>
          <p:cNvSpPr/>
          <p:nvPr/>
        </p:nvSpPr>
        <p:spPr>
          <a:xfrm>
            <a:off x="1028880" y="251676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Lógica de Custo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92;p17"/>
          <p:cNvSpPr/>
          <p:nvPr/>
        </p:nvSpPr>
        <p:spPr>
          <a:xfrm>
            <a:off x="1028880" y="2797920"/>
            <a:ext cx="7543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Métrica: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A concorrência cobra R$ 300 a R$ 450 por aluno/ano das famílias   </a:t>
            </a:r>
            <a:br>
              <a:rPr sz="1100"/>
            </a:b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Por quê: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O socioemocional não drena o caixa da escola — é uma linha de receita nova e autofinanciável via repasse de material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93;p17"/>
          <p:cNvSpPr/>
          <p:nvPr/>
        </p:nvSpPr>
        <p:spPr>
          <a:xfrm>
            <a:off x="411480" y="3600360"/>
            <a:ext cx="445320" cy="4453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94;p17"/>
          <p:cNvSpPr/>
          <p:nvPr/>
        </p:nvSpPr>
        <p:spPr>
          <a:xfrm>
            <a:off x="411480" y="3600360"/>
            <a:ext cx="4453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95;p17"/>
          <p:cNvSpPr/>
          <p:nvPr/>
        </p:nvSpPr>
        <p:spPr>
          <a:xfrm>
            <a:off x="1028880" y="357984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Saúde Mental (Acolhimento e Combate ao Bullying)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6;p17"/>
          <p:cNvSpPr/>
          <p:nvPr/>
        </p:nvSpPr>
        <p:spPr>
          <a:xfrm>
            <a:off x="1028880" y="3861000"/>
            <a:ext cx="7131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Métrica: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Escolas com forte apelo socioemocional reduzem o churn e aumentam a indicação orgânica   </a:t>
            </a:r>
            <a:br>
              <a:rPr sz="1100"/>
            </a:b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Por quê: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Entrega um valor intangível altíssimo: a segurança de que o filho está sendo desenvolvido integralmente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7;p17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3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03;p18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104;p18"/>
          <p:cNvSpPr/>
          <p:nvPr/>
        </p:nvSpPr>
        <p:spPr>
          <a:xfrm>
            <a:off x="411480" y="514440"/>
            <a:ext cx="78865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Inteligência Artificial: Expansão do Cosmos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05;p18"/>
          <p:cNvSpPr/>
          <p:nvPr/>
        </p:nvSpPr>
        <p:spPr>
          <a:xfrm>
            <a:off x="411480" y="960120"/>
            <a:ext cx="754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Combate à concorrência (SAS / Arco)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06;p18"/>
          <p:cNvSpPr/>
          <p:nvPr/>
        </p:nvSpPr>
        <p:spPr>
          <a:xfrm>
            <a:off x="411480" y="1440360"/>
            <a:ext cx="3977280" cy="30859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7;p18"/>
          <p:cNvSpPr/>
          <p:nvPr/>
        </p:nvSpPr>
        <p:spPr>
          <a:xfrm>
            <a:off x="651600" y="1611720"/>
            <a:ext cx="349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CONCORRÊNCIA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8;p18"/>
          <p:cNvSpPr/>
          <p:nvPr/>
        </p:nvSpPr>
        <p:spPr>
          <a:xfrm>
            <a:off x="651600" y="1954440"/>
            <a:ext cx="34974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54160" indent="-260280">
              <a:lnSpc>
                <a:spcPct val="100000"/>
              </a:lnSpc>
              <a:buClr>
                <a:srgbClr val="4A4A4A"/>
              </a:buClr>
              <a:buFont typeface="Calibri"/>
              <a:buChar char="✗"/>
            </a:pPr>
            <a:r>
              <a:rPr lang="pt-BR" sz="11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SAS/Arco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 fazem parceria com o ChatGPT na correção de redações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60280">
              <a:lnSpc>
                <a:spcPct val="100000"/>
              </a:lnSpc>
              <a:spcBef>
                <a:spcPts val="1100"/>
              </a:spcBef>
              <a:buClr>
                <a:srgbClr val="4A4A4A"/>
              </a:buClr>
              <a:buFont typeface="Calibri"/>
              <a:buChar char="✗"/>
            </a:pPr>
            <a:r>
              <a:rPr lang="pt-BR" sz="11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Diferencial fraco: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 usam IA de forma robótica para os alunos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60280">
              <a:lnSpc>
                <a:spcPct val="100000"/>
              </a:lnSpc>
              <a:spcBef>
                <a:spcPts val="1100"/>
              </a:spcBef>
              <a:buClr>
                <a:srgbClr val="4A4A4A"/>
              </a:buClr>
              <a:buFont typeface="Calibri"/>
              <a:buChar char="✗"/>
            </a:pPr>
            <a:r>
              <a:rPr lang="pt-BR" sz="11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Marketing sem intencionalidade pedagógica: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 entregam respostas, mas não convertem em aprovações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9;p18"/>
          <p:cNvSpPr/>
          <p:nvPr/>
        </p:nvSpPr>
        <p:spPr>
          <a:xfrm>
            <a:off x="4595040" y="1440360"/>
            <a:ext cx="3977280" cy="3085920"/>
          </a:xfrm>
          <a:prstGeom prst="roundRect">
            <a:avLst>
              <a:gd name="adj" fmla="val 1778"/>
            </a:avLst>
          </a:prstGeom>
          <a:solidFill>
            <a:srgbClr val="24305E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10;p18"/>
          <p:cNvSpPr/>
          <p:nvPr/>
        </p:nvSpPr>
        <p:spPr>
          <a:xfrm>
            <a:off x="4834800" y="1611720"/>
            <a:ext cx="349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RESPOSTA POLIEDRO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11;p18"/>
          <p:cNvSpPr/>
          <p:nvPr/>
        </p:nvSpPr>
        <p:spPr>
          <a:xfrm>
            <a:off x="4834800" y="1954440"/>
            <a:ext cx="34974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54160" indent="-260280">
              <a:lnSpc>
                <a:spcPct val="100000"/>
              </a:lnSpc>
              <a:buClr>
                <a:srgbClr val="FFFFFF"/>
              </a:buClr>
              <a:buFont typeface="Calibri"/>
              <a:buChar char="✓"/>
            </a:pPr>
            <a:r>
              <a:rPr lang="pt-BR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Expansão do Cosmos</a:t>
            </a:r>
            <a:r>
              <a:rPr lang="pt-B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o hub de IA integrado ao P+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602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Calibri"/>
              <a:buChar char="✓"/>
            </a:pPr>
            <a:r>
              <a:rPr lang="pt-B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Apoia o maior gargalo da escola particular hoje: </a:t>
            </a:r>
            <a:br>
              <a:rPr sz="1100"/>
            </a:br>
            <a:r>
              <a:rPr lang="pt-BR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sobrecarga e saúde mental do professor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602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Calibri"/>
              <a:buChar char="✓"/>
            </a:pPr>
            <a:r>
              <a:rPr lang="pt-B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P+ diagnostica gargalos pedagógicos e eleva a nota média da escola no Enem e nos vestibulares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602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Calibri"/>
              <a:buChar char="✓"/>
            </a:pPr>
            <a:r>
              <a:rPr lang="pt-B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Gera os dados que provam aos pais que o investimento na escola tem retorno real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12;p18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4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18;p19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9;p19"/>
          <p:cNvSpPr/>
          <p:nvPr/>
        </p:nvSpPr>
        <p:spPr>
          <a:xfrm>
            <a:off x="411480" y="514440"/>
            <a:ext cx="7543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Expansão de Novos Negócios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20;p19"/>
          <p:cNvSpPr/>
          <p:nvPr/>
        </p:nvSpPr>
        <p:spPr>
          <a:xfrm>
            <a:off x="411480" y="960120"/>
            <a:ext cx="754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Da base atual ao mercado nacional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21;p19"/>
          <p:cNvSpPr/>
          <p:nvPr/>
        </p:nvSpPr>
        <p:spPr>
          <a:xfrm>
            <a:off x="411480" y="1577520"/>
            <a:ext cx="2653560" cy="2537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22;p19"/>
          <p:cNvSpPr/>
          <p:nvPr/>
        </p:nvSpPr>
        <p:spPr>
          <a:xfrm>
            <a:off x="617400" y="1783080"/>
            <a:ext cx="411120" cy="4111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23;p19"/>
          <p:cNvSpPr/>
          <p:nvPr/>
        </p:nvSpPr>
        <p:spPr>
          <a:xfrm>
            <a:off x="617400" y="1783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24;p19"/>
          <p:cNvSpPr/>
          <p:nvPr/>
        </p:nvSpPr>
        <p:spPr>
          <a:xfrm>
            <a:off x="617400" y="2297520"/>
            <a:ext cx="22420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Início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25;p19"/>
          <p:cNvSpPr/>
          <p:nvPr/>
        </p:nvSpPr>
        <p:spPr>
          <a:xfrm>
            <a:off x="617400" y="2640240"/>
            <a:ext cx="2242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Identificar, na base atual, escolas que mais consomem produtos adicionais e têm um perfil específico (porte, região, mensalidade)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26;p19"/>
          <p:cNvSpPr/>
          <p:nvPr/>
        </p:nvSpPr>
        <p:spPr>
          <a:xfrm>
            <a:off x="3195720" y="1577520"/>
            <a:ext cx="2653560" cy="2537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27;p19"/>
          <p:cNvSpPr/>
          <p:nvPr/>
        </p:nvSpPr>
        <p:spPr>
          <a:xfrm>
            <a:off x="3401640" y="1783080"/>
            <a:ext cx="411120" cy="4111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8;p19"/>
          <p:cNvSpPr/>
          <p:nvPr/>
        </p:nvSpPr>
        <p:spPr>
          <a:xfrm>
            <a:off x="3401640" y="1783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9;p19"/>
          <p:cNvSpPr/>
          <p:nvPr/>
        </p:nvSpPr>
        <p:spPr>
          <a:xfrm>
            <a:off x="3401640" y="2297520"/>
            <a:ext cx="22420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A Ponte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30;p19"/>
          <p:cNvSpPr/>
          <p:nvPr/>
        </p:nvSpPr>
        <p:spPr>
          <a:xfrm>
            <a:off x="3401640" y="2640240"/>
            <a:ext cx="2242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Entendido o perfil dos melhores clientes internos, mapeamos onde estão novas escolas com esse exato mesmo perfil no mercado nacional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31;p19"/>
          <p:cNvSpPr/>
          <p:nvPr/>
        </p:nvSpPr>
        <p:spPr>
          <a:xfrm>
            <a:off x="5980320" y="1577520"/>
            <a:ext cx="2653560" cy="2537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32;p19"/>
          <p:cNvSpPr/>
          <p:nvPr/>
        </p:nvSpPr>
        <p:spPr>
          <a:xfrm>
            <a:off x="6185880" y="1783080"/>
            <a:ext cx="411120" cy="4111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33;p19"/>
          <p:cNvSpPr/>
          <p:nvPr/>
        </p:nvSpPr>
        <p:spPr>
          <a:xfrm>
            <a:off x="6185880" y="1783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4;p19"/>
          <p:cNvSpPr/>
          <p:nvPr/>
        </p:nvSpPr>
        <p:spPr>
          <a:xfrm>
            <a:off x="6185880" y="2297520"/>
            <a:ext cx="22420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Portfólio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35;p19"/>
          <p:cNvSpPr/>
          <p:nvPr/>
        </p:nvSpPr>
        <p:spPr>
          <a:xfrm>
            <a:off x="6185880" y="2640240"/>
            <a:ext cx="2242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Polígono abre mercado em escolas fora do perfil tradicional; Poliedro foca onde a equipe comercial deve concentrar esforço, reduzindo CAC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6;p19"/>
          <p:cNvSpPr/>
          <p:nvPr/>
        </p:nvSpPr>
        <p:spPr>
          <a:xfrm>
            <a:off x="411480" y="4251960"/>
            <a:ext cx="8298000" cy="514080"/>
          </a:xfrm>
          <a:prstGeom prst="roundRect">
            <a:avLst>
              <a:gd name="adj" fmla="val 8000"/>
            </a:avLst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7;p19"/>
          <p:cNvSpPr/>
          <p:nvPr/>
        </p:nvSpPr>
        <p:spPr>
          <a:xfrm>
            <a:off x="617400" y="4251960"/>
            <a:ext cx="78865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dor resolvida: um “Score de Potencial” que limpa os ruídos da base e entrega ao time de vendas uma lista ranqueada de municípios e escolas quentes para prospectar.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8;p19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5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44;p20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45;p20"/>
          <p:cNvSpPr/>
          <p:nvPr/>
        </p:nvSpPr>
        <p:spPr>
          <a:xfrm>
            <a:off x="411480" y="514440"/>
            <a:ext cx="7543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Onde Estão Nossos Clientes Ideais?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46;p20"/>
          <p:cNvSpPr/>
          <p:nvPr/>
        </p:nvSpPr>
        <p:spPr>
          <a:xfrm>
            <a:off x="411480" y="960120"/>
            <a:ext cx="754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Desafios da prospecção tradicional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7;p20"/>
          <p:cNvSpPr/>
          <p:nvPr/>
        </p:nvSpPr>
        <p:spPr>
          <a:xfrm>
            <a:off x="411480" y="1440360"/>
            <a:ext cx="3977280" cy="30859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48;p20"/>
          <p:cNvSpPr/>
          <p:nvPr/>
        </p:nvSpPr>
        <p:spPr>
          <a:xfrm>
            <a:off x="651600" y="1611720"/>
            <a:ext cx="349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DESAFIOS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9;p20"/>
          <p:cNvSpPr/>
          <p:nvPr/>
        </p:nvSpPr>
        <p:spPr>
          <a:xfrm>
            <a:off x="651600" y="1954440"/>
            <a:ext cx="34974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54160" indent="-254160">
              <a:lnSpc>
                <a:spcPct val="100000"/>
              </a:lnSpc>
              <a:buClr>
                <a:srgbClr val="4A4A4A"/>
              </a:buClr>
              <a:buFont typeface="Calibri"/>
              <a:buChar char="✗"/>
            </a:pPr>
            <a:r>
              <a:rPr lang="pt-BR" sz="10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Esforço comercial disperso: </a:t>
            </a: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prospectar escolas “no escuro” gera CAC alto e ineficiente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4A4A4A"/>
              </a:buClr>
              <a:buFont typeface="Calibri"/>
              <a:buChar char="✗"/>
            </a:pPr>
            <a:r>
              <a:rPr lang="pt-BR" sz="10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Orçamentos desiguais: </a:t>
            </a: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nem toda escola particular tem margem ou perfil para soluções premium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4A4A4A"/>
              </a:buClr>
              <a:buFont typeface="Calibri"/>
              <a:buChar char="✗"/>
            </a:pPr>
            <a:r>
              <a:rPr lang="pt-BR" sz="1000" b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Ilusão do PIB Municipal:</a:t>
            </a: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 cidades ricas em PIB (indústria, commodities) muitas vezes não têm famílias com alto poder de compra real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50;p20"/>
          <p:cNvSpPr/>
          <p:nvPr/>
        </p:nvSpPr>
        <p:spPr>
          <a:xfrm>
            <a:off x="4595040" y="1440360"/>
            <a:ext cx="3977280" cy="3085920"/>
          </a:xfrm>
          <a:prstGeom prst="roundRect">
            <a:avLst>
              <a:gd name="adj" fmla="val 1778"/>
            </a:avLst>
          </a:prstGeom>
          <a:solidFill>
            <a:srgbClr val="24305E"/>
          </a:solidFill>
          <a:ln w="0">
            <a:noFill/>
          </a:ln>
          <a:effectLst>
            <a:outerShdw algn="bl" blurRad="101520" dir="5400000" dist="255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51;p20"/>
          <p:cNvSpPr/>
          <p:nvPr/>
        </p:nvSpPr>
        <p:spPr>
          <a:xfrm>
            <a:off x="4834800" y="1611720"/>
            <a:ext cx="349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A SOLUÇÃO INTELIGENTE DE MERCADO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52;p20"/>
          <p:cNvSpPr/>
          <p:nvPr/>
        </p:nvSpPr>
        <p:spPr>
          <a:xfrm>
            <a:off x="4834800" y="1954440"/>
            <a:ext cx="349740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54160" indent="-254160">
              <a:lnSpc>
                <a:spcPct val="100000"/>
              </a:lnSpc>
              <a:buClr>
                <a:srgbClr val="FFFFFF"/>
              </a:buClr>
              <a:buFont typeface="Calibri"/>
              <a:buChar char="✓"/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Cruzamento estratégico:</a:t>
            </a: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Censo Escolar (INEP) + renda domiciliar real do Censo (IBGE 2022)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FFFFFF"/>
              </a:buClr>
              <a:buFont typeface="Calibri"/>
              <a:buChar char="✓"/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Foco no bolso dos pais:</a:t>
            </a: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identificação cirúrgica das famílias que de fato pagam mensalidades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>
              <a:lnSpc>
                <a:spcPct val="100000"/>
              </a:lnSpc>
              <a:spcBef>
                <a:spcPts val="1100"/>
              </a:spcBef>
              <a:buClr>
                <a:srgbClr val="FFFFFF"/>
              </a:buClr>
              <a:buFont typeface="Calibri"/>
              <a:buChar char="✓"/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Segmentação adequada:</a:t>
            </a: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direcionar o produto certo (Poliedro vs. Polígono) para o perfil econômico real da região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53;p20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6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59;p21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60;p21"/>
          <p:cNvSpPr/>
          <p:nvPr/>
        </p:nvSpPr>
        <p:spPr>
          <a:xfrm>
            <a:off x="411480" y="514440"/>
            <a:ext cx="78865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Método de Ranking: Três Variáveis Inteligentes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61;p21"/>
          <p:cNvSpPr/>
          <p:nvPr/>
        </p:nvSpPr>
        <p:spPr>
          <a:xfrm>
            <a:off x="411480" y="1200240"/>
            <a:ext cx="411120" cy="4111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62;p21"/>
          <p:cNvSpPr/>
          <p:nvPr/>
        </p:nvSpPr>
        <p:spPr>
          <a:xfrm>
            <a:off x="411480" y="12002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63;p21"/>
          <p:cNvSpPr/>
          <p:nvPr/>
        </p:nvSpPr>
        <p:spPr>
          <a:xfrm>
            <a:off x="994320" y="1179720"/>
            <a:ext cx="7200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Renda Domiciliar Real  (fator principal — peso 85%)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64;p21"/>
          <p:cNvSpPr/>
          <p:nvPr/>
        </p:nvSpPr>
        <p:spPr>
          <a:xfrm>
            <a:off x="994320" y="1454040"/>
            <a:ext cx="72007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Métrica: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% de famílias com rendimento acima de 5 salários mínimos (Censo 2022)</a:t>
            </a:r>
            <a:br>
              <a:rPr sz="1100"/>
            </a:b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Por quê: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Indica o poder de compra real e define o fit para o Poliedro Premium ou para a flexibilidade do Polígono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65;p21"/>
          <p:cNvSpPr/>
          <p:nvPr/>
        </p:nvSpPr>
        <p:spPr>
          <a:xfrm>
            <a:off x="411480" y="2352240"/>
            <a:ext cx="411120" cy="4111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66;p21"/>
          <p:cNvSpPr/>
          <p:nvPr/>
        </p:nvSpPr>
        <p:spPr>
          <a:xfrm>
            <a:off x="411480" y="23522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67;p21"/>
          <p:cNvSpPr/>
          <p:nvPr/>
        </p:nvSpPr>
        <p:spPr>
          <a:xfrm>
            <a:off x="994320" y="2331720"/>
            <a:ext cx="7200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População Infantil  (demanda ativa)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68;p21"/>
          <p:cNvSpPr/>
          <p:nvPr/>
        </p:nvSpPr>
        <p:spPr>
          <a:xfrm>
            <a:off x="994320" y="2606040"/>
            <a:ext cx="72007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Métrica: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População de 0 a 17 anos residente no município (Censo 2022)</a:t>
            </a:r>
            <a:br>
              <a:rPr sz="1100"/>
            </a:b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Por quê: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Filtro técnico: mínimo de 1.000 crianças para elegibilidade — cidades ricas e envelhecidas são mercados sem futuro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9;p21"/>
          <p:cNvSpPr/>
          <p:nvPr/>
        </p:nvSpPr>
        <p:spPr>
          <a:xfrm>
            <a:off x="411480" y="3504600"/>
            <a:ext cx="411120" cy="4111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70;p21"/>
          <p:cNvSpPr/>
          <p:nvPr/>
        </p:nvSpPr>
        <p:spPr>
          <a:xfrm>
            <a:off x="411480" y="35046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71;p21"/>
          <p:cNvSpPr/>
          <p:nvPr/>
        </p:nvSpPr>
        <p:spPr>
          <a:xfrm>
            <a:off x="994320" y="3483720"/>
            <a:ext cx="7200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Porte e Infraestrutura  (peso 30% no score da escola)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72;p21"/>
          <p:cNvSpPr/>
          <p:nvPr/>
        </p:nvSpPr>
        <p:spPr>
          <a:xfrm>
            <a:off x="994320" y="3758040"/>
            <a:ext cx="72007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Métrica: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Número de salas de aula ativas (INEP, Censo Escolar 2023)</a:t>
            </a:r>
            <a:br>
              <a:rPr sz="1100"/>
            </a:b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Por quê: </a:t>
            </a: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Escolas maiores possuem melhor infraestrutura e maior verba para contratos complexos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73;p21"/>
          <p:cNvSpPr/>
          <p:nvPr/>
        </p:nvSpPr>
        <p:spPr>
          <a:xfrm>
            <a:off x="411480" y="4697640"/>
            <a:ext cx="8298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PIB per capita permanece na base apenas como dado de contexto — não entra no score, evitando o viés de cidades industriais/mineradoras.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74;p21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7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80;p22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81;p22"/>
          <p:cNvSpPr/>
          <p:nvPr/>
        </p:nvSpPr>
        <p:spPr>
          <a:xfrm>
            <a:off x="411480" y="514440"/>
            <a:ext cx="788652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Escopo e Resultados da Análise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82;p22"/>
          <p:cNvSpPr/>
          <p:nvPr/>
        </p:nvSpPr>
        <p:spPr>
          <a:xfrm>
            <a:off x="411480" y="960120"/>
            <a:ext cx="754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E8C9CE"/>
                </a:solidFill>
                <a:effectLst/>
                <a:uFillTx/>
                <a:latin typeface="Calibri"/>
                <a:ea typeface="Calibri"/>
              </a:rPr>
              <a:t>Dados tratados e analisados — metodologia de renda domiciliar real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83;p22"/>
          <p:cNvSpPr/>
          <p:nvPr/>
        </p:nvSpPr>
        <p:spPr>
          <a:xfrm>
            <a:off x="411480" y="1474560"/>
            <a:ext cx="3840120" cy="1440000"/>
          </a:xfrm>
          <a:prstGeom prst="roundRect">
            <a:avLst>
              <a:gd name="adj" fmla="val 3810"/>
            </a:avLst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84;p22"/>
          <p:cNvSpPr/>
          <p:nvPr/>
        </p:nvSpPr>
        <p:spPr>
          <a:xfrm>
            <a:off x="411480" y="1542960"/>
            <a:ext cx="38401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4800" b="1" u="none" strike="noStrike">
                <a:solidFill>
                  <a:srgbClr val="C99A3B"/>
                </a:solidFill>
                <a:effectLst/>
                <a:uFillTx/>
                <a:latin typeface="Cambria"/>
                <a:ea typeface="Cambria"/>
              </a:rPr>
              <a:t>150</a:t>
            </a:r>
            <a:endParaRPr lang="pt-B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85;p22"/>
          <p:cNvSpPr/>
          <p:nvPr/>
        </p:nvSpPr>
        <p:spPr>
          <a:xfrm>
            <a:off x="617400" y="229752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Golden Leads — escolas com score no Top 1% nacional, prontas para abordagem premium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86;p22"/>
          <p:cNvSpPr/>
          <p:nvPr/>
        </p:nvSpPr>
        <p:spPr>
          <a:xfrm>
            <a:off x="4457880" y="1474560"/>
            <a:ext cx="2022840" cy="1440000"/>
          </a:xfrm>
          <a:prstGeom prst="roundRect">
            <a:avLst>
              <a:gd name="adj" fmla="val 3810"/>
            </a:avLst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87;p22"/>
          <p:cNvSpPr/>
          <p:nvPr/>
        </p:nvSpPr>
        <p:spPr>
          <a:xfrm>
            <a:off x="4457880" y="1577520"/>
            <a:ext cx="202284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C99A3B"/>
                </a:solidFill>
                <a:effectLst/>
                <a:uFillTx/>
                <a:latin typeface="Cambria"/>
                <a:ea typeface="Cambria"/>
              </a:rPr>
              <a:t>33.915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88;p22"/>
          <p:cNvSpPr/>
          <p:nvPr/>
        </p:nvSpPr>
        <p:spPr>
          <a:xfrm>
            <a:off x="4560480" y="2160360"/>
            <a:ext cx="18169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Escolas privadas mapeadas e cruzadas (INEP)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89;p22"/>
          <p:cNvSpPr/>
          <p:nvPr/>
        </p:nvSpPr>
        <p:spPr>
          <a:xfrm>
            <a:off x="6604200" y="1474560"/>
            <a:ext cx="2022840" cy="1440000"/>
          </a:xfrm>
          <a:prstGeom prst="roundRect">
            <a:avLst>
              <a:gd name="adj" fmla="val 3810"/>
            </a:avLst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90;p22"/>
          <p:cNvSpPr/>
          <p:nvPr/>
        </p:nvSpPr>
        <p:spPr>
          <a:xfrm>
            <a:off x="6604200" y="1577520"/>
            <a:ext cx="202284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C99A3B"/>
                </a:solidFill>
                <a:effectLst/>
                <a:uFillTx/>
                <a:latin typeface="Cambria"/>
                <a:ea typeface="Cambria"/>
              </a:rPr>
              <a:t>4.514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91;p22"/>
          <p:cNvSpPr/>
          <p:nvPr/>
        </p:nvSpPr>
        <p:spPr>
          <a:xfrm>
            <a:off x="6707160" y="2160360"/>
            <a:ext cx="18169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Municípios elegíveis </a:t>
            </a:r>
            <a:br>
              <a:rPr sz="900"/>
            </a:br>
            <a:r>
              <a:rPr lang="pt-BR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(alta densidade infantil ativa)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92;p22"/>
          <p:cNvSpPr/>
          <p:nvPr/>
        </p:nvSpPr>
        <p:spPr>
          <a:xfrm>
            <a:off x="4457880" y="3051720"/>
            <a:ext cx="2022840" cy="1440000"/>
          </a:xfrm>
          <a:prstGeom prst="roundRect">
            <a:avLst>
              <a:gd name="adj" fmla="val 3810"/>
            </a:avLst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93;p22"/>
          <p:cNvSpPr/>
          <p:nvPr/>
        </p:nvSpPr>
        <p:spPr>
          <a:xfrm>
            <a:off x="4457880" y="3154680"/>
            <a:ext cx="202284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C99A3B"/>
                </a:solidFill>
                <a:effectLst/>
                <a:uFillTx/>
                <a:latin typeface="Cambria"/>
                <a:ea typeface="Cambria"/>
              </a:rPr>
              <a:t>2.771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4;p22"/>
          <p:cNvSpPr/>
          <p:nvPr/>
        </p:nvSpPr>
        <p:spPr>
          <a:xfrm>
            <a:off x="4560480" y="3737520"/>
            <a:ext cx="18169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Municípios com escola privada representada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95;p22"/>
          <p:cNvSpPr/>
          <p:nvPr/>
        </p:nvSpPr>
        <p:spPr>
          <a:xfrm>
            <a:off x="6604200" y="3051720"/>
            <a:ext cx="2022840" cy="1440000"/>
          </a:xfrm>
          <a:prstGeom prst="roundRect">
            <a:avLst>
              <a:gd name="adj" fmla="val 3810"/>
            </a:avLst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96;p22"/>
          <p:cNvSpPr/>
          <p:nvPr/>
        </p:nvSpPr>
        <p:spPr>
          <a:xfrm>
            <a:off x="6604200" y="3154680"/>
            <a:ext cx="202284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C99A3B"/>
                </a:solidFill>
                <a:effectLst/>
                <a:uFillTx/>
                <a:latin typeface="Cambria"/>
                <a:ea typeface="Cambria"/>
              </a:rPr>
              <a:t>11,3</a:t>
            </a:r>
            <a:endParaRPr lang="pt-BR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97;p22"/>
          <p:cNvSpPr/>
          <p:nvPr/>
        </p:nvSpPr>
        <p:spPr>
          <a:xfrm>
            <a:off x="6707160" y="3737520"/>
            <a:ext cx="18169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Média nacional de salas de aula por escola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98;p22"/>
          <p:cNvSpPr/>
          <p:nvPr/>
        </p:nvSpPr>
        <p:spPr>
          <a:xfrm>
            <a:off x="411480" y="4595040"/>
            <a:ext cx="8298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0" i="1" u="none" strike="noStrike">
                <a:solidFill>
                  <a:srgbClr val="E8C9CE"/>
                </a:solidFill>
                <a:effectLst/>
                <a:uFillTx/>
                <a:latin typeface="Calibri"/>
                <a:ea typeface="Calibri"/>
              </a:rPr>
              <a:t>Score socioeconômico médio dos municípios: 0,33 (escala 0 a 1)  •  Score de potencial das escolas líderes: até 0,99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99;p22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8</a:t>
            </a:r>
            <a:endParaRPr lang="pt-BR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205;p23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06;p23"/>
          <p:cNvSpPr/>
          <p:nvPr/>
        </p:nvSpPr>
        <p:spPr>
          <a:xfrm>
            <a:off x="411480" y="514440"/>
            <a:ext cx="82292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Os Melhores Mercados Nacionais para Prospecção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Google Shape;207;p23"/>
          <p:cNvGraphicFramePr/>
          <p:nvPr/>
        </p:nvGraphicFramePr>
        <p:xfrm>
          <a:off x="411480" y="1166040"/>
          <a:ext cx="8297640" cy="2057040"/>
        </p:xfrm>
        <a:graphic>
          <a:graphicData uri="http://schemas.openxmlformats.org/drawingml/2006/table">
            <a:tbl>
              <a:tblPr/>
              <a:tblGrid>
                <a:gridCol w="479880"/>
                <a:gridCol w="3771720"/>
                <a:gridCol w="1577160"/>
                <a:gridCol w="1234080"/>
                <a:gridCol w="1234080"/>
              </a:tblGrid>
              <a:tr h="342720"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#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Escola de Alto Potencial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Score Socioec.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Salas Ativas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Score Geral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</a:tr>
              <a:tr h="342720"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Colégio Salesiano Santa Rosa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0,961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0,994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720"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Eduardo Gomes Colégio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0,924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47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0,992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</a:tr>
              <a:tr h="342720"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Escola Villare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0,924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0,992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720"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Educandário Imaculada Conceição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0,864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0,991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</a:tr>
              <a:tr h="342720"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Colégio Santo Agostinho (Unidade Nova Lima)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0,803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78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0,991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208;p23"/>
          <p:cNvSpPr/>
          <p:nvPr/>
        </p:nvSpPr>
        <p:spPr>
          <a:xfrm>
            <a:off x="411480" y="3497760"/>
            <a:ext cx="8298000" cy="959760"/>
          </a:xfrm>
          <a:prstGeom prst="roundRect">
            <a:avLst>
              <a:gd name="adj" fmla="val 5714"/>
            </a:avLst>
          </a:prstGeom>
          <a:solidFill>
            <a:srgbClr val="2430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09;p23"/>
          <p:cNvSpPr/>
          <p:nvPr/>
        </p:nvSpPr>
        <p:spPr>
          <a:xfrm>
            <a:off x="651600" y="3497760"/>
            <a:ext cx="7817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Os líderes do ranking combinam renda de topo de pirâmide, excelente infraestrutura e mercado infantil saudável — sem nenhuma cidade de base industrial/mineradora no topo, confirmando que a correção do viés de PIB funcionou.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10;p23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9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16;p24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17;p24"/>
          <p:cNvSpPr/>
          <p:nvPr/>
        </p:nvSpPr>
        <p:spPr>
          <a:xfrm>
            <a:off x="411480" y="514440"/>
            <a:ext cx="82292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Três Segmentos Estratégicos de Oportunidade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18;p24"/>
          <p:cNvSpPr/>
          <p:nvPr/>
        </p:nvSpPr>
        <p:spPr>
          <a:xfrm>
            <a:off x="411480" y="1166040"/>
            <a:ext cx="2653920" cy="31201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19;p24"/>
          <p:cNvSpPr/>
          <p:nvPr/>
        </p:nvSpPr>
        <p:spPr>
          <a:xfrm>
            <a:off x="411480" y="1166040"/>
            <a:ext cx="2653560" cy="61704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20;p24"/>
          <p:cNvSpPr/>
          <p:nvPr/>
        </p:nvSpPr>
        <p:spPr>
          <a:xfrm>
            <a:off x="411480" y="1542960"/>
            <a:ext cx="2653560" cy="2397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21;p24"/>
          <p:cNvSpPr/>
          <p:nvPr/>
        </p:nvSpPr>
        <p:spPr>
          <a:xfrm>
            <a:off x="582840" y="1166040"/>
            <a:ext cx="6854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1º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22;p24"/>
          <p:cNvSpPr/>
          <p:nvPr/>
        </p:nvSpPr>
        <p:spPr>
          <a:xfrm>
            <a:off x="1200240" y="1166040"/>
            <a:ext cx="16934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GOLDEN LEADS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23;p24"/>
          <p:cNvSpPr/>
          <p:nvPr/>
        </p:nvSpPr>
        <p:spPr>
          <a:xfrm>
            <a:off x="617400" y="195444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FAIXA DE SCORE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24;p24"/>
          <p:cNvSpPr/>
          <p:nvPr/>
        </p:nvSpPr>
        <p:spPr>
          <a:xfrm>
            <a:off x="617400" y="2146680"/>
            <a:ext cx="2242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Score 0,90 a 1,00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25;p24"/>
          <p:cNvSpPr/>
          <p:nvPr/>
        </p:nvSpPr>
        <p:spPr>
          <a:xfrm>
            <a:off x="617400" y="243468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VOLUME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26;p24"/>
          <p:cNvSpPr/>
          <p:nvPr/>
        </p:nvSpPr>
        <p:spPr>
          <a:xfrm>
            <a:off x="617400" y="2626560"/>
            <a:ext cx="2242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994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27;p24"/>
          <p:cNvSpPr/>
          <p:nvPr/>
        </p:nvSpPr>
        <p:spPr>
          <a:xfrm>
            <a:off x="617400" y="291456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FOCO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28;p24"/>
          <p:cNvSpPr/>
          <p:nvPr/>
        </p:nvSpPr>
        <p:spPr>
          <a:xfrm>
            <a:off x="617400" y="3106800"/>
            <a:ext cx="224208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Tradicional (Alta Renda)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29;p24"/>
          <p:cNvSpPr/>
          <p:nvPr/>
        </p:nvSpPr>
        <p:spPr>
          <a:xfrm>
            <a:off x="617400" y="353196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AÇÃO COMERCIAL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0;p24"/>
          <p:cNvSpPr/>
          <p:nvPr/>
        </p:nvSpPr>
        <p:spPr>
          <a:xfrm>
            <a:off x="617400" y="3723840"/>
            <a:ext cx="2242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Proposta consultiva premium direta com mantenedores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1;p24"/>
          <p:cNvSpPr/>
          <p:nvPr/>
        </p:nvSpPr>
        <p:spPr>
          <a:xfrm>
            <a:off x="3195720" y="1166040"/>
            <a:ext cx="2653560" cy="31201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32;p24"/>
          <p:cNvSpPr/>
          <p:nvPr/>
        </p:nvSpPr>
        <p:spPr>
          <a:xfrm>
            <a:off x="3195720" y="1166040"/>
            <a:ext cx="2653560" cy="617040"/>
          </a:xfrm>
          <a:prstGeom prst="roundRect">
            <a:avLst>
              <a:gd name="adj" fmla="val 8889"/>
            </a:avLst>
          </a:prstGeom>
          <a:solidFill>
            <a:srgbClr val="2430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33;p24"/>
          <p:cNvSpPr/>
          <p:nvPr/>
        </p:nvSpPr>
        <p:spPr>
          <a:xfrm>
            <a:off x="3195720" y="1542960"/>
            <a:ext cx="2653560" cy="239760"/>
          </a:xfrm>
          <a:prstGeom prst="rect">
            <a:avLst/>
          </a:prstGeom>
          <a:solidFill>
            <a:srgbClr val="2430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34;p24"/>
          <p:cNvSpPr/>
          <p:nvPr/>
        </p:nvSpPr>
        <p:spPr>
          <a:xfrm>
            <a:off x="3367440" y="1166040"/>
            <a:ext cx="6854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2º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35;p24"/>
          <p:cNvSpPr/>
          <p:nvPr/>
        </p:nvSpPr>
        <p:spPr>
          <a:xfrm>
            <a:off x="3860280" y="1165680"/>
            <a:ext cx="181764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PROSPECTOS QUALIFICADOS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36;p24"/>
          <p:cNvSpPr/>
          <p:nvPr/>
        </p:nvSpPr>
        <p:spPr>
          <a:xfrm>
            <a:off x="3401640" y="195444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FAIXA DE SCORE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37;p24"/>
          <p:cNvSpPr/>
          <p:nvPr/>
        </p:nvSpPr>
        <p:spPr>
          <a:xfrm>
            <a:off x="3401640" y="2146680"/>
            <a:ext cx="2242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Score 0,70 a 0,89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38;p24"/>
          <p:cNvSpPr/>
          <p:nvPr/>
        </p:nvSpPr>
        <p:spPr>
          <a:xfrm>
            <a:off x="3401640" y="243468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VOLUME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39;p24"/>
          <p:cNvSpPr/>
          <p:nvPr/>
        </p:nvSpPr>
        <p:spPr>
          <a:xfrm>
            <a:off x="3401640" y="2626560"/>
            <a:ext cx="2242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6466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40;p24"/>
          <p:cNvSpPr/>
          <p:nvPr/>
        </p:nvSpPr>
        <p:spPr>
          <a:xfrm>
            <a:off x="3401640" y="291456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FOCO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41;p24"/>
          <p:cNvSpPr/>
          <p:nvPr/>
        </p:nvSpPr>
        <p:spPr>
          <a:xfrm>
            <a:off x="3401640" y="3106800"/>
            <a:ext cx="224208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Polígono (Classe Média em crescimento)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42;p24"/>
          <p:cNvSpPr/>
          <p:nvPr/>
        </p:nvSpPr>
        <p:spPr>
          <a:xfrm>
            <a:off x="3401640" y="353196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AÇÃO COMERCIAL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43;p24"/>
          <p:cNvSpPr/>
          <p:nvPr/>
        </p:nvSpPr>
        <p:spPr>
          <a:xfrm>
            <a:off x="3401640" y="3723840"/>
            <a:ext cx="2242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Inbound estruturado focado em custo x benefício e flexibilidade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44;p24"/>
          <p:cNvSpPr/>
          <p:nvPr/>
        </p:nvSpPr>
        <p:spPr>
          <a:xfrm>
            <a:off x="5980320" y="1166040"/>
            <a:ext cx="2653560" cy="31201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45;p24"/>
          <p:cNvSpPr/>
          <p:nvPr/>
        </p:nvSpPr>
        <p:spPr>
          <a:xfrm>
            <a:off x="5980320" y="1166040"/>
            <a:ext cx="2653560" cy="617040"/>
          </a:xfrm>
          <a:prstGeom prst="roundRect">
            <a:avLst>
              <a:gd name="adj" fmla="val 8889"/>
            </a:avLst>
          </a:prstGeom>
          <a:solidFill>
            <a:srgbClr val="6B71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46;p24"/>
          <p:cNvSpPr/>
          <p:nvPr/>
        </p:nvSpPr>
        <p:spPr>
          <a:xfrm>
            <a:off x="5980320" y="1542960"/>
            <a:ext cx="2653560" cy="239760"/>
          </a:xfrm>
          <a:prstGeom prst="rect">
            <a:avLst/>
          </a:prstGeom>
          <a:solidFill>
            <a:srgbClr val="6B71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47;p24"/>
          <p:cNvSpPr/>
          <p:nvPr/>
        </p:nvSpPr>
        <p:spPr>
          <a:xfrm>
            <a:off x="6151680" y="1166040"/>
            <a:ext cx="6854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3º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48;p24"/>
          <p:cNvSpPr/>
          <p:nvPr/>
        </p:nvSpPr>
        <p:spPr>
          <a:xfrm>
            <a:off x="6768720" y="1166040"/>
            <a:ext cx="16934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PIPELINE FUTURO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49;p24"/>
          <p:cNvSpPr/>
          <p:nvPr/>
        </p:nvSpPr>
        <p:spPr>
          <a:xfrm>
            <a:off x="6185880" y="195444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6B7189"/>
                </a:solidFill>
                <a:effectLst/>
                <a:uFillTx/>
                <a:latin typeface="Calibri"/>
                <a:ea typeface="Calibri"/>
              </a:rPr>
              <a:t>FAIXA DE SCORE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50;p24"/>
          <p:cNvSpPr/>
          <p:nvPr/>
        </p:nvSpPr>
        <p:spPr>
          <a:xfrm>
            <a:off x="6185880" y="2146680"/>
            <a:ext cx="2242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Score 0,40 a 0,69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51;p24"/>
          <p:cNvSpPr/>
          <p:nvPr/>
        </p:nvSpPr>
        <p:spPr>
          <a:xfrm>
            <a:off x="6185880" y="243468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6B7189"/>
                </a:solidFill>
                <a:effectLst/>
                <a:uFillTx/>
                <a:latin typeface="Calibri"/>
                <a:ea typeface="Calibri"/>
              </a:rPr>
              <a:t>VOLUME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52;p24"/>
          <p:cNvSpPr/>
          <p:nvPr/>
        </p:nvSpPr>
        <p:spPr>
          <a:xfrm>
            <a:off x="6185880" y="2626560"/>
            <a:ext cx="2242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0" i="1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14321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53;p24"/>
          <p:cNvSpPr/>
          <p:nvPr/>
        </p:nvSpPr>
        <p:spPr>
          <a:xfrm>
            <a:off x="6185880" y="291456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6B7189"/>
                </a:solidFill>
                <a:effectLst/>
                <a:uFillTx/>
                <a:latin typeface="Calibri"/>
                <a:ea typeface="Calibri"/>
              </a:rPr>
              <a:t>FOCO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54;p24"/>
          <p:cNvSpPr/>
          <p:nvPr/>
        </p:nvSpPr>
        <p:spPr>
          <a:xfrm>
            <a:off x="6185880" y="3106800"/>
            <a:ext cx="224208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Nutrição de marca a longo prazo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55;p24"/>
          <p:cNvSpPr/>
          <p:nvPr/>
        </p:nvSpPr>
        <p:spPr>
          <a:xfrm>
            <a:off x="6185880" y="3531960"/>
            <a:ext cx="22420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6B7189"/>
                </a:solidFill>
                <a:effectLst/>
                <a:uFillTx/>
                <a:latin typeface="Calibri"/>
                <a:ea typeface="Calibri"/>
              </a:rPr>
              <a:t>AÇÃO COMERCIAL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56;p24"/>
          <p:cNvSpPr/>
          <p:nvPr/>
        </p:nvSpPr>
        <p:spPr>
          <a:xfrm>
            <a:off x="6185880" y="3723840"/>
            <a:ext cx="2242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Automação de e-mails, webinars pedagógicos e e-books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57;p24"/>
          <p:cNvSpPr/>
          <p:nvPr/>
        </p:nvSpPr>
        <p:spPr>
          <a:xfrm>
            <a:off x="411480" y="4423320"/>
            <a:ext cx="8298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58;p24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8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264;p25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65;p25"/>
          <p:cNvSpPr/>
          <p:nvPr/>
        </p:nvSpPr>
        <p:spPr>
          <a:xfrm>
            <a:off x="411480" y="514440"/>
            <a:ext cx="7543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O Salto de Eficiência Comercial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7" name="Google Shape;266;p25"/>
          <p:cNvGraphicFramePr/>
          <p:nvPr/>
        </p:nvGraphicFramePr>
        <p:xfrm>
          <a:off x="411480" y="1200240"/>
          <a:ext cx="8297640" cy="3085560"/>
        </p:xfrm>
        <a:graphic>
          <a:graphicData uri="http://schemas.openxmlformats.org/drawingml/2006/table">
            <a:tbl>
              <a:tblPr/>
              <a:tblGrid>
                <a:gridCol w="1782720"/>
                <a:gridCol w="3257280"/>
                <a:gridCol w="3257280"/>
              </a:tblGrid>
              <a:tr h="479880"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Critério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Antes (Prospecção Tradicional)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Depois (Mapeamento por Dados)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24305E"/>
                    </a:solidFill>
                  </a:tcPr>
                </a:tc>
              </a:tr>
              <a:tr h="651240"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Encontrar clientes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Listas de escolas aleatórias, ligando “frio”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Identificação cirúrgica por Score de Potencial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</a:tr>
              <a:tr h="651240"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Previsão de orçamento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“Achismo” ou tentativa e erro em visitas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Validação direta da renda familiar real via Censo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</a:tr>
              <a:tr h="651240"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gasto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Semanas ou meses de qualificação manual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Pronto em segundos na planilha filtrada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</a:tr>
              <a:tr h="651240"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1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Conversão esperada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4A4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Baixa (&lt; 2%), pela dispersão do esforço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7F0F1"/>
                    </a:solidFill>
                  </a:tcPr>
                </a:tc>
                <a:tc>
                  <a:txBody>
                    <a:bodyPr lIns="68400" tIns="34200" rIns="68400" bIns="34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00" b="0" u="none" strike="noStrike">
                          <a:solidFill>
                            <a:srgbClr val="24305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Elevada, focando apenas no topo de pirâmide</a:t>
                      </a:r>
                      <a:endParaRPr lang="pt-B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 marT="34200" marB="34200">
                    <a:lnL w="9360">
                      <a:solidFill>
                        <a:srgbClr val="E5D5D8"/>
                      </a:solidFill>
                      <a:prstDash val="solid"/>
                    </a:lnL>
                    <a:lnR w="9360">
                      <a:solidFill>
                        <a:srgbClr val="E5D5D8"/>
                      </a:solidFill>
                      <a:prstDash val="solid"/>
                    </a:lnR>
                    <a:lnT w="9360">
                      <a:solidFill>
                        <a:srgbClr val="E5D5D8"/>
                      </a:solidFill>
                      <a:prstDash val="solid"/>
                    </a:lnT>
                    <a:lnB w="9360">
                      <a:solidFill>
                        <a:srgbClr val="E5D5D8"/>
                      </a:solidFill>
                      <a:prstDash val="solid"/>
                    </a:lnB>
                    <a:solidFill>
                      <a:srgbClr val="F2E4E7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267;p25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11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273;p26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74;p26"/>
          <p:cNvSpPr/>
          <p:nvPr/>
        </p:nvSpPr>
        <p:spPr>
          <a:xfrm>
            <a:off x="411480" y="514440"/>
            <a:ext cx="7543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Plano de Implementação Prática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75;p26"/>
          <p:cNvSpPr/>
          <p:nvPr/>
        </p:nvSpPr>
        <p:spPr>
          <a:xfrm>
            <a:off x="411480" y="1200240"/>
            <a:ext cx="2653560" cy="322308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76;p26"/>
          <p:cNvSpPr/>
          <p:nvPr/>
        </p:nvSpPr>
        <p:spPr>
          <a:xfrm>
            <a:off x="617400" y="1405800"/>
            <a:ext cx="376920" cy="3769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77;p26"/>
          <p:cNvSpPr/>
          <p:nvPr/>
        </p:nvSpPr>
        <p:spPr>
          <a:xfrm>
            <a:off x="617400" y="1405800"/>
            <a:ext cx="37692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78;p26"/>
          <p:cNvSpPr/>
          <p:nvPr/>
        </p:nvSpPr>
        <p:spPr>
          <a:xfrm>
            <a:off x="1097280" y="1405800"/>
            <a:ext cx="17622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FASE 1: VALIDAÇÃO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79;p26"/>
          <p:cNvSpPr/>
          <p:nvPr/>
        </p:nvSpPr>
        <p:spPr>
          <a:xfrm>
            <a:off x="1097280" y="1611720"/>
            <a:ext cx="17622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Semanas 1 e 2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80;p26"/>
          <p:cNvSpPr/>
          <p:nvPr/>
        </p:nvSpPr>
        <p:spPr>
          <a:xfrm>
            <a:off x="617400" y="192024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ATIVIDADE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81;p26"/>
          <p:cNvSpPr/>
          <p:nvPr/>
        </p:nvSpPr>
        <p:spPr>
          <a:xfrm>
            <a:off x="617400" y="2098440"/>
            <a:ext cx="22420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Selecionar 10 Golden Leads do top 50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82;p26"/>
          <p:cNvSpPr/>
          <p:nvPr/>
        </p:nvSpPr>
        <p:spPr>
          <a:xfrm>
            <a:off x="617400" y="264024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FOCO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83;p26"/>
          <p:cNvSpPr/>
          <p:nvPr/>
        </p:nvSpPr>
        <p:spPr>
          <a:xfrm>
            <a:off x="617400" y="2818800"/>
            <a:ext cx="22420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Abordagem de vendas experimental, qualificando o retorno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84;p26"/>
          <p:cNvSpPr/>
          <p:nvPr/>
        </p:nvSpPr>
        <p:spPr>
          <a:xfrm>
            <a:off x="617400" y="349776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OBJETIVO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85;p26"/>
          <p:cNvSpPr/>
          <p:nvPr/>
        </p:nvSpPr>
        <p:spPr>
          <a:xfrm>
            <a:off x="617400" y="3675960"/>
            <a:ext cx="22420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Comprovar a aderência do score na prática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86;p26"/>
          <p:cNvSpPr/>
          <p:nvPr/>
        </p:nvSpPr>
        <p:spPr>
          <a:xfrm>
            <a:off x="3195720" y="1200240"/>
            <a:ext cx="2653560" cy="322308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87;p26"/>
          <p:cNvSpPr/>
          <p:nvPr/>
        </p:nvSpPr>
        <p:spPr>
          <a:xfrm>
            <a:off x="3401640" y="1405800"/>
            <a:ext cx="376920" cy="3769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88;p26"/>
          <p:cNvSpPr/>
          <p:nvPr/>
        </p:nvSpPr>
        <p:spPr>
          <a:xfrm>
            <a:off x="3401640" y="1405800"/>
            <a:ext cx="37692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89;p26"/>
          <p:cNvSpPr/>
          <p:nvPr/>
        </p:nvSpPr>
        <p:spPr>
          <a:xfrm>
            <a:off x="3881520" y="1405800"/>
            <a:ext cx="17622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FASE 2: PILOTO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90;p26"/>
          <p:cNvSpPr/>
          <p:nvPr/>
        </p:nvSpPr>
        <p:spPr>
          <a:xfrm>
            <a:off x="3881520" y="1611720"/>
            <a:ext cx="17622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Mês 1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91;p26"/>
          <p:cNvSpPr/>
          <p:nvPr/>
        </p:nvSpPr>
        <p:spPr>
          <a:xfrm>
            <a:off x="3401640" y="192024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ATIVIDADE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92;p26"/>
          <p:cNvSpPr/>
          <p:nvPr/>
        </p:nvSpPr>
        <p:spPr>
          <a:xfrm>
            <a:off x="3401640" y="2098440"/>
            <a:ext cx="22420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Expandir para os 150 Golden Leads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93;p26"/>
          <p:cNvSpPr/>
          <p:nvPr/>
        </p:nvSpPr>
        <p:spPr>
          <a:xfrm>
            <a:off x="3401640" y="264024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FOCO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94;p26"/>
          <p:cNvSpPr/>
          <p:nvPr/>
        </p:nvSpPr>
        <p:spPr>
          <a:xfrm>
            <a:off x="3401640" y="2818800"/>
            <a:ext cx="22420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Munir consultores com insights demográficos locais de cada escola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95;p26"/>
          <p:cNvSpPr/>
          <p:nvPr/>
        </p:nvSpPr>
        <p:spPr>
          <a:xfrm>
            <a:off x="3401640" y="349776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OBJETIVO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96;p26"/>
          <p:cNvSpPr/>
          <p:nvPr/>
        </p:nvSpPr>
        <p:spPr>
          <a:xfrm>
            <a:off x="3401640" y="3675960"/>
            <a:ext cx="22420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Gerar os primeiros fechamentos com alta conversão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97;p26"/>
          <p:cNvSpPr/>
          <p:nvPr/>
        </p:nvSpPr>
        <p:spPr>
          <a:xfrm>
            <a:off x="5980320" y="1200240"/>
            <a:ext cx="2653560" cy="322308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5D5D8"/>
            </a:solidFill>
            <a:round/>
          </a:ln>
          <a:effectLst>
            <a:outerShdw algn="bl" blurRad="763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98;p26"/>
          <p:cNvSpPr/>
          <p:nvPr/>
        </p:nvSpPr>
        <p:spPr>
          <a:xfrm>
            <a:off x="6185880" y="1405800"/>
            <a:ext cx="376920" cy="376920"/>
          </a:xfrm>
          <a:prstGeom prst="ellipse">
            <a:avLst/>
          </a:prstGeom>
          <a:solidFill>
            <a:srgbClr val="8B15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99;p26"/>
          <p:cNvSpPr/>
          <p:nvPr/>
        </p:nvSpPr>
        <p:spPr>
          <a:xfrm>
            <a:off x="6185880" y="1405800"/>
            <a:ext cx="37692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300;p26"/>
          <p:cNvSpPr/>
          <p:nvPr/>
        </p:nvSpPr>
        <p:spPr>
          <a:xfrm>
            <a:off x="6666120" y="1405800"/>
            <a:ext cx="17622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FASE 3: ESCALA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301;p26"/>
          <p:cNvSpPr/>
          <p:nvPr/>
        </p:nvSpPr>
        <p:spPr>
          <a:xfrm>
            <a:off x="6666120" y="1611720"/>
            <a:ext cx="17622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100" b="0" i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Mês 2+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302;p26"/>
          <p:cNvSpPr/>
          <p:nvPr/>
        </p:nvSpPr>
        <p:spPr>
          <a:xfrm>
            <a:off x="6185880" y="192024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ATIVIDADE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303;p26"/>
          <p:cNvSpPr/>
          <p:nvPr/>
        </p:nvSpPr>
        <p:spPr>
          <a:xfrm>
            <a:off x="6185880" y="2098440"/>
            <a:ext cx="224208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Automação e importação das notas no CRM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304;p26"/>
          <p:cNvSpPr/>
          <p:nvPr/>
        </p:nvSpPr>
        <p:spPr>
          <a:xfrm>
            <a:off x="6185880" y="264024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FOCO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305;p26"/>
          <p:cNvSpPr/>
          <p:nvPr/>
        </p:nvSpPr>
        <p:spPr>
          <a:xfrm>
            <a:off x="6185880" y="2818800"/>
            <a:ext cx="22420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Iniciar prospecção de massa para as escolas do portfólio Polígono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306;p26"/>
          <p:cNvSpPr/>
          <p:nvPr/>
        </p:nvSpPr>
        <p:spPr>
          <a:xfrm>
            <a:off x="6185880" y="3497760"/>
            <a:ext cx="22420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OBJETIVO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307;p26"/>
          <p:cNvSpPr/>
          <p:nvPr/>
        </p:nvSpPr>
        <p:spPr>
          <a:xfrm>
            <a:off x="6185880" y="3675960"/>
            <a:ext cx="22420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Industrializar a inteligência de expansão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308;p26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12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314;p27"/>
          <p:cNvSpPr/>
          <p:nvPr/>
        </p:nvSpPr>
        <p:spPr>
          <a:xfrm>
            <a:off x="411480" y="274320"/>
            <a:ext cx="41144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NOVOS NEGÓCIOS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15;p27"/>
          <p:cNvSpPr/>
          <p:nvPr/>
        </p:nvSpPr>
        <p:spPr>
          <a:xfrm>
            <a:off x="411480" y="514440"/>
            <a:ext cx="754344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300" b="1" u="none" strike="noStrike">
                <a:solidFill>
                  <a:srgbClr val="24305E"/>
                </a:solidFill>
                <a:effectLst/>
                <a:uFillTx/>
                <a:latin typeface="Cambria"/>
                <a:ea typeface="Cambria"/>
              </a:rPr>
              <a:t>Roadmap Técnico de Evolução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Google Shape;316;p27"/>
          <p:cNvCxnSpPr/>
          <p:nvPr/>
        </p:nvCxnSpPr>
        <p:spPr>
          <a:xfrm>
            <a:off x="788400" y="1405800"/>
            <a:ext cx="360" cy="3155040"/>
          </a:xfrm>
          <a:prstGeom prst="straightConnector1">
            <a:avLst/>
          </a:prstGeom>
          <a:ln w="25400">
            <a:solidFill>
              <a:srgbClr val="E5D5D8"/>
            </a:solidFill>
            <a:round/>
          </a:ln>
        </p:spPr>
      </p:cxnSp>
      <p:sp>
        <p:nvSpPr>
          <p:cNvPr id="238" name="Google Shape;317;p27"/>
          <p:cNvSpPr/>
          <p:nvPr/>
        </p:nvSpPr>
        <p:spPr>
          <a:xfrm>
            <a:off x="637920" y="1268640"/>
            <a:ext cx="301320" cy="301320"/>
          </a:xfrm>
          <a:prstGeom prst="ellipse">
            <a:avLst/>
          </a:prstGeom>
          <a:solidFill>
            <a:srgbClr val="8B1538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18;p27"/>
          <p:cNvSpPr/>
          <p:nvPr/>
        </p:nvSpPr>
        <p:spPr>
          <a:xfrm>
            <a:off x="637920" y="1268640"/>
            <a:ext cx="3013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1.0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319;p27"/>
          <p:cNvSpPr/>
          <p:nvPr/>
        </p:nvSpPr>
        <p:spPr>
          <a:xfrm>
            <a:off x="1131480" y="1254960"/>
            <a:ext cx="1096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00" b="1" u="none" strike="noStrike">
                <a:solidFill>
                  <a:srgbClr val="8B1538"/>
                </a:solidFill>
                <a:effectLst/>
                <a:uFillTx/>
                <a:latin typeface="Calibri"/>
                <a:ea typeface="Calibri"/>
              </a:rPr>
              <a:t>ATUAL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20;p27"/>
          <p:cNvSpPr/>
          <p:nvPr/>
        </p:nvSpPr>
        <p:spPr>
          <a:xfrm>
            <a:off x="1131480" y="1447200"/>
            <a:ext cx="7406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Score de potencial estático, gerado em planilhas unificando Censo + INEP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1;p27"/>
          <p:cNvSpPr/>
          <p:nvPr/>
        </p:nvSpPr>
        <p:spPr>
          <a:xfrm>
            <a:off x="637920" y="1899720"/>
            <a:ext cx="301320" cy="301320"/>
          </a:xfrm>
          <a:prstGeom prst="ellipse">
            <a:avLst/>
          </a:prstGeom>
          <a:solidFill>
            <a:srgbClr val="C99A3B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22;p27"/>
          <p:cNvSpPr/>
          <p:nvPr/>
        </p:nvSpPr>
        <p:spPr>
          <a:xfrm>
            <a:off x="637920" y="1899720"/>
            <a:ext cx="3013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2.0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23;p27"/>
          <p:cNvSpPr/>
          <p:nvPr/>
        </p:nvSpPr>
        <p:spPr>
          <a:xfrm>
            <a:off x="1131480" y="1886040"/>
            <a:ext cx="1096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8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PRÓXIMO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24;p27"/>
          <p:cNvSpPr/>
          <p:nvPr/>
        </p:nvSpPr>
        <p:spPr>
          <a:xfrm>
            <a:off x="1131480" y="2077920"/>
            <a:ext cx="7406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Painel interativo para filtros personalizados por UF/Município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25;p27"/>
          <p:cNvSpPr/>
          <p:nvPr/>
        </p:nvSpPr>
        <p:spPr>
          <a:xfrm>
            <a:off x="637920" y="2530440"/>
            <a:ext cx="301320" cy="301320"/>
          </a:xfrm>
          <a:prstGeom prst="ellipse">
            <a:avLst/>
          </a:prstGeom>
          <a:solidFill>
            <a:srgbClr val="24305E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26;p27"/>
          <p:cNvSpPr/>
          <p:nvPr/>
        </p:nvSpPr>
        <p:spPr>
          <a:xfrm>
            <a:off x="637920" y="2530440"/>
            <a:ext cx="3013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3.0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27;p27"/>
          <p:cNvSpPr/>
          <p:nvPr/>
        </p:nvSpPr>
        <p:spPr>
          <a:xfrm>
            <a:off x="1131480" y="2516760"/>
            <a:ext cx="7406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Integração via API com o CRM (HubSpot/Salesforce) para auto-scoring de novos leads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28;p27"/>
          <p:cNvSpPr/>
          <p:nvPr/>
        </p:nvSpPr>
        <p:spPr>
          <a:xfrm>
            <a:off x="637920" y="3161520"/>
            <a:ext cx="301320" cy="301320"/>
          </a:xfrm>
          <a:prstGeom prst="ellipse">
            <a:avLst/>
          </a:prstGeom>
          <a:solidFill>
            <a:srgbClr val="24305E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29;p27"/>
          <p:cNvSpPr/>
          <p:nvPr/>
        </p:nvSpPr>
        <p:spPr>
          <a:xfrm>
            <a:off x="637920" y="3161520"/>
            <a:ext cx="3013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4.0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30;p27"/>
          <p:cNvSpPr/>
          <p:nvPr/>
        </p:nvSpPr>
        <p:spPr>
          <a:xfrm>
            <a:off x="1131480" y="3147840"/>
            <a:ext cx="7406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Georreferenciamento de concorrência e visualização espacial das escolas em mapas dinâmicos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31;p27"/>
          <p:cNvSpPr/>
          <p:nvPr/>
        </p:nvSpPr>
        <p:spPr>
          <a:xfrm>
            <a:off x="637920" y="3792600"/>
            <a:ext cx="301320" cy="301320"/>
          </a:xfrm>
          <a:prstGeom prst="ellipse">
            <a:avLst/>
          </a:prstGeom>
          <a:solidFill>
            <a:srgbClr val="24305E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32;p27"/>
          <p:cNvSpPr/>
          <p:nvPr/>
        </p:nvSpPr>
        <p:spPr>
          <a:xfrm>
            <a:off x="637920" y="3792600"/>
            <a:ext cx="3013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5.0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33;p27"/>
          <p:cNvSpPr/>
          <p:nvPr/>
        </p:nvSpPr>
        <p:spPr>
          <a:xfrm>
            <a:off x="1131480" y="3778920"/>
            <a:ext cx="7406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4A4A4A"/>
                </a:solidFill>
                <a:effectLst/>
                <a:uFillTx/>
                <a:latin typeface="Calibri"/>
                <a:ea typeface="Calibri"/>
              </a:rPr>
              <a:t>Modelo preditivo de propensão de fechamento integrado ao funil de vendas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34;p27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13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340;p28"/>
          <p:cNvSpPr/>
          <p:nvPr/>
        </p:nvSpPr>
        <p:spPr>
          <a:xfrm>
            <a:off x="617400" y="1097280"/>
            <a:ext cx="788652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PRONTOS PARA CRESCER COM INTELIGÊNCIA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41;p28"/>
          <p:cNvSpPr/>
          <p:nvPr/>
        </p:nvSpPr>
        <p:spPr>
          <a:xfrm>
            <a:off x="617400" y="1989000"/>
            <a:ext cx="342720" cy="342720"/>
          </a:xfrm>
          <a:prstGeom prst="ellipse">
            <a:avLst/>
          </a:prstGeom>
          <a:solidFill>
            <a:srgbClr val="C99A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42;p28"/>
          <p:cNvSpPr/>
          <p:nvPr/>
        </p:nvSpPr>
        <p:spPr>
          <a:xfrm>
            <a:off x="617400" y="198900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5E0E24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43;p28"/>
          <p:cNvSpPr/>
          <p:nvPr/>
        </p:nvSpPr>
        <p:spPr>
          <a:xfrm>
            <a:off x="1097280" y="197496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Eficiência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44;p28"/>
          <p:cNvSpPr/>
          <p:nvPr/>
        </p:nvSpPr>
        <p:spPr>
          <a:xfrm>
            <a:off x="3909240" y="1974960"/>
            <a:ext cx="4594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Redução drástica das horas de qualificação comercial para focar em quem pode comprar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45;p28"/>
          <p:cNvSpPr/>
          <p:nvPr/>
        </p:nvSpPr>
        <p:spPr>
          <a:xfrm>
            <a:off x="617400" y="2571840"/>
            <a:ext cx="342720" cy="342720"/>
          </a:xfrm>
          <a:prstGeom prst="ellipse">
            <a:avLst/>
          </a:prstGeom>
          <a:solidFill>
            <a:srgbClr val="C99A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46;p28"/>
          <p:cNvSpPr/>
          <p:nvPr/>
        </p:nvSpPr>
        <p:spPr>
          <a:xfrm>
            <a:off x="617400" y="257184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5E0E24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47;p28"/>
          <p:cNvSpPr/>
          <p:nvPr/>
        </p:nvSpPr>
        <p:spPr>
          <a:xfrm>
            <a:off x="1097280" y="255816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Casamento de Portfólio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48;p28"/>
          <p:cNvSpPr/>
          <p:nvPr/>
        </p:nvSpPr>
        <p:spPr>
          <a:xfrm>
            <a:off x="3909240" y="2558160"/>
            <a:ext cx="4594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Poliedro tradicional para o topo financeiro; Polígono para o volume da classe média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49;p28"/>
          <p:cNvSpPr/>
          <p:nvPr/>
        </p:nvSpPr>
        <p:spPr>
          <a:xfrm>
            <a:off x="617400" y="3154680"/>
            <a:ext cx="342720" cy="342720"/>
          </a:xfrm>
          <a:prstGeom prst="ellipse">
            <a:avLst/>
          </a:prstGeom>
          <a:solidFill>
            <a:srgbClr val="C99A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68400" rIns="68400" bIns="68400" anchor="ctr">
            <a:noAutofit/>
          </a:bodyPr>
          <a:p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50;p28"/>
          <p:cNvSpPr/>
          <p:nvPr/>
        </p:nvSpPr>
        <p:spPr>
          <a:xfrm>
            <a:off x="617400" y="3154680"/>
            <a:ext cx="342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5E0E24"/>
                </a:solidFill>
                <a:effectLst/>
                <a:uFillTx/>
                <a:latin typeface="Calibri"/>
                <a:ea typeface="Calibri"/>
              </a:rPr>
              <a:t>•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51;p28"/>
          <p:cNvSpPr/>
          <p:nvPr/>
        </p:nvSpPr>
        <p:spPr>
          <a:xfrm>
            <a:off x="1097280" y="314100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C99A3B"/>
                </a:solidFill>
                <a:effectLst/>
                <a:uFillTx/>
                <a:latin typeface="Calibri"/>
                <a:ea typeface="Calibri"/>
              </a:rPr>
              <a:t>Praticidade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52;p28"/>
          <p:cNvSpPr/>
          <p:nvPr/>
        </p:nvSpPr>
        <p:spPr>
          <a:xfrm>
            <a:off x="3909240" y="3141000"/>
            <a:ext cx="4594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Framework pronto para testes em até 3 semanas, se fizer sentido para o time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69" name="Google Shape;353;p28"/>
          <p:cNvCxnSpPr/>
          <p:nvPr/>
        </p:nvCxnSpPr>
        <p:spPr>
          <a:xfrm>
            <a:off x="617040" y="3977640"/>
            <a:ext cx="1509120" cy="360"/>
          </a:xfrm>
          <a:prstGeom prst="straightConnector1">
            <a:avLst/>
          </a:prstGeom>
          <a:ln w="25400">
            <a:solidFill>
              <a:srgbClr val="C99A3B"/>
            </a:solidFill>
            <a:round/>
          </a:ln>
        </p:spPr>
      </p:cxnSp>
      <p:sp>
        <p:nvSpPr>
          <p:cNvPr id="270" name="Google Shape;354;p28"/>
          <p:cNvSpPr/>
          <p:nvPr/>
        </p:nvSpPr>
        <p:spPr>
          <a:xfrm>
            <a:off x="617400" y="4114800"/>
            <a:ext cx="7543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BR" sz="15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Dúvidas ou sugestões? Obrigado!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55;p28"/>
          <p:cNvSpPr/>
          <p:nvPr/>
        </p:nvSpPr>
        <p:spPr>
          <a:xfrm>
            <a:off x="343080" y="4903560"/>
            <a:ext cx="843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pt-BR" sz="700" b="0" u="none" strike="noStrike">
                <a:solidFill>
                  <a:srgbClr val="24305E"/>
                </a:solidFill>
                <a:effectLst/>
                <a:uFillTx/>
                <a:latin typeface="Calibri"/>
                <a:ea typeface="Calibri"/>
              </a:rPr>
              <a:t>Poliedro Educação  |  Novos Negócios  |  14</a:t>
            </a:r>
            <a:endParaRPr lang="pt-BR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2026-07-16T15:06:49Z</dcterms:modified>
  <cp:revision>1</cp:revision>
  <dc:subject/>
  <dc:title/>
</cp:coreProperties>
</file>
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D36E3E9-262A-41A4-8DA8-AA5D63564C5A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5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9DB30E-C9BD-485C-BF6E-8EDC3251E8C2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6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819727-825B-48E6-A287-BD8EEA9BA300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7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88F7EBE-5B62-4C33-93E0-9048B98EEBC3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8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D54353-0CC8-40ED-ABC7-6F2F7E3B31FD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9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CB20C1-839F-4857-9734-32CFDCF256E3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20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E29A63-E7D0-4A78-AF53-9FCFC64BE221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21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87D913-1B9F-46D0-AC90-CF2A18305009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22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7C35D62-6E9F-4B5A-A65A-E427936C804D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23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7B91205-49A2-400B-9491-B727DE9B946D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24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0AC1C4B-EF1B-422F-8B0E-6F834F7B93FA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25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1E224FC-AD9D-4D23-86E3-87B3D5B2F290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26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89198C-1B26-4707-A3C8-6812BB9488C3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27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C99DE2-A6A6-4D97-83E3-3789742877FB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857160"/>
            <a:ext cx="5485680" cy="231372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3300480"/>
            <a:ext cx="5485680" cy="26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28"/>
          </p:nvPr>
        </p:nvSpPr>
        <p:spPr>
          <a:xfrm>
            <a:off x="3884760" y="6513840"/>
            <a:ext cx="2971080" cy="34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BD415B-6A38-44E3-BF0A-2B3640357645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6960" cy="4089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39728CC-56D0-4211-9374-E793579AF645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6;p9"/>
          <p:cNvSpPr/>
          <p:nvPr/>
        </p:nvSpPr>
        <p:spPr>
          <a:xfrm>
            <a:off x="4572000" y="0"/>
            <a:ext cx="4571280" cy="51429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600" cy="1481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1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160" cy="3694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6B3888-2B42-43E1-AD31-1C0382D1F1B9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7960" cy="6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8C3D2C4-6511-4CB9-8EBD-B2E501420431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5070338-258F-4B12-93D4-966A9FECF64B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19760" cy="196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BR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19760" cy="1299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BFE720-3D06-42FA-B264-F854CCF21E58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B60FB1E-4F0F-476E-9489-0EE10282E31B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19760" cy="84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D9C3D7-64B9-47AE-A42D-600115BD4D6A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2018E0-E822-4870-91F6-E8C3CB6DB68E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9FF72E-5FD2-4CA1-BE3A-922C740CC647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6DB6EF6-C37C-4A34-9625-7954EAAA256A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280" cy="75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0000" lnSpcReduction="1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28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26AA56-4501-4899-BB5A-86FB87769040}" type="slidenum">
              <a:rPr lang="pt-B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30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57;p15"/>
          <p:cNvSpPr/>
          <p:nvPr/>
        </p:nvSpPr>
        <p:spPr>
          <a:xfrm>
            <a:off x="617400" y="1474560"/>
            <a:ext cx="78861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58;p15"/>
          <p:cNvSpPr/>
          <p:nvPr/>
        </p:nvSpPr>
        <p:spPr>
          <a:xfrm>
            <a:off x="617400" y="1817280"/>
            <a:ext cx="7886160" cy="13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Mapeamento de Escolas Privadas</a:t>
            </a:r>
            <a:endParaRPr lang="pt-B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com Alto Potencial Econômico</a:t>
            </a:r>
            <a:endParaRPr lang="pt-B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59;p15"/>
          <p:cNvSpPr/>
          <p:nvPr/>
        </p:nvSpPr>
        <p:spPr>
          <a:xfrm>
            <a:off x="617400" y="3120480"/>
            <a:ext cx="78861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rgbClr val="E8C9CE"/>
                </a:solidFill>
                <a:effectLst/>
                <a:uFillTx/>
                <a:latin typeface="Calibri"/>
                <a:ea typeface="Calibri"/>
              </a:rPr>
              <a:t>Inteligência de Dados Aplicada a Novos Negócios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1" name="Google Shape;60;p15"/>
          <p:cNvCxnSpPr/>
          <p:nvPr/>
        </p:nvCxnSpPr>
        <p:spPr>
          <a:xfrm>
            <a:off x="617040" y="3600360"/>
            <a:ext cx="1509480" cy="720"/>
          </a:xfrm>
          <a:prstGeom prst="straightConnector1">
            <a:avLst/>
          </a:prstGeom>
          <a:ln w="25400">
            <a:solidFill>
              <a:srgbClr val="C99A3B"/>
            </a:solidFill>
            <a:round/>
          </a:ln>
        </p:spPr>
      </p:cxnSp>
      <p:sp>
        <p:nvSpPr>
          <p:cNvPr id="42" name="Google Shape;61;p15"/>
          <p:cNvSpPr/>
          <p:nvPr/>
        </p:nvSpPr>
        <p:spPr>
          <a:xfrm>
            <a:off x="617400" y="3737520"/>
            <a:ext cx="7886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C9B4B9"/>
                </a:solidFill>
                <a:effectLst/>
                <a:uFillTx/>
                <a:latin typeface="Calibri"/>
                <a:ea typeface="Calibri"/>
              </a:rPr>
              <a:t>Guilherme Fontoura   |   Apresentação Executiva   |   Julho 2026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67;p16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68;p16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Onde podemos chegar?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69;p16"/>
          <p:cNvSpPr/>
          <p:nvPr/>
        </p:nvSpPr>
        <p:spPr>
          <a:xfrm>
            <a:off x="411480" y="960120"/>
            <a:ext cx="7543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Potencial represado na base de clientes atual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0;p16"/>
          <p:cNvSpPr/>
          <p:nvPr/>
        </p:nvSpPr>
        <p:spPr>
          <a:xfrm>
            <a:off x="411480" y="1440360"/>
            <a:ext cx="3976920" cy="308556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71;p16"/>
          <p:cNvSpPr/>
          <p:nvPr/>
        </p:nvSpPr>
        <p:spPr>
          <a:xfrm>
            <a:off x="651600" y="1611720"/>
            <a:ext cx="349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CENÁRIO ATUAL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72;p16"/>
          <p:cNvSpPr/>
          <p:nvPr/>
        </p:nvSpPr>
        <p:spPr>
          <a:xfrm>
            <a:off x="651600" y="1954440"/>
            <a:ext cx="349704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54160" indent="-254160">
              <a:lnSpc>
                <a:spcPct val="100000"/>
              </a:lnSpc>
              <a:buClr>
                <a:srgbClr val="4A4A4A"/>
              </a:buClr>
              <a:buFont typeface="Calibri"/>
              <a:buChar char="✗"/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Y,Y% das nossas escolas utilizam todo o ecossistema Poliedro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4A4A4A"/>
              </a:buClr>
              <a:buFont typeface="Calibri"/>
              <a:buChar char="✗"/>
            </a:pPr>
            <a:r>
              <a:rPr lang="pt-BR" sz="10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TAM:</a:t>
            </a: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 aplicando o ecossistema completo apenas na base atual, atingiríamos R$ X.XM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4A4A4A"/>
              </a:buClr>
              <a:buFont typeface="Calibri"/>
              <a:buChar char="✗"/>
            </a:pPr>
            <a:r>
              <a:rPr lang="pt-BR" sz="10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Esforço comercial disperso:</a:t>
            </a: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 ao nos colocarmos apenas como vendedores de “apostila”, deixamos espaço para outras empresas venderem os serviços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73;p16"/>
          <p:cNvSpPr/>
          <p:nvPr/>
        </p:nvSpPr>
        <p:spPr>
          <a:xfrm>
            <a:off x="4595040" y="1440360"/>
            <a:ext cx="3976920" cy="3085560"/>
          </a:xfrm>
          <a:prstGeom prst="roundRect">
            <a:avLst>
              <a:gd name="adj" fmla="val 1778"/>
            </a:avLst>
          </a:prstGeom>
          <a:solidFill>
            <a:srgbClr val="24305E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4;p16"/>
          <p:cNvSpPr/>
          <p:nvPr/>
        </p:nvSpPr>
        <p:spPr>
          <a:xfrm>
            <a:off x="4834800" y="1611720"/>
            <a:ext cx="349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A SOLUÇÃO INTELIGENTE DE MERCADO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75;p16"/>
          <p:cNvSpPr/>
          <p:nvPr/>
        </p:nvSpPr>
        <p:spPr>
          <a:xfrm>
            <a:off x="4834800" y="1954440"/>
            <a:ext cx="349704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54160" indent="-254160">
              <a:lnSpc>
                <a:spcPct val="100000"/>
              </a:lnSpc>
              <a:buClr>
                <a:srgbClr val="FFFFFF"/>
              </a:buClr>
              <a:buFont typeface="Calibri"/>
              <a:buChar char="✓"/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Recolocação estratégica: </a:t>
            </a: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 mantenedor não compra apenas um “sistema de ensino” — ele compra captação de alunos e reputação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Foco no bolso dos pais: </a:t>
            </a: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venda consultiva de valor agregado (cross-sell e upsell) que aumenta o LTV e justifica o investimento das famílias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Segmentação adequada:</a:t>
            </a: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direcionar o produto certo (Conviver e Integrar, Cosmos, Polígono, Bilinguismo) para o perfil ideal de escola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6;p16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2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82;p17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3;p17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Crescimento Interno (LTV)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84;p17"/>
          <p:cNvSpPr/>
          <p:nvPr/>
        </p:nvSpPr>
        <p:spPr>
          <a:xfrm>
            <a:off x="411480" y="960120"/>
            <a:ext cx="7543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Conviver e Integrar — cross-selling, custo e saúde mental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85;p17"/>
          <p:cNvSpPr/>
          <p:nvPr/>
        </p:nvSpPr>
        <p:spPr>
          <a:xfrm>
            <a:off x="411480" y="1474560"/>
            <a:ext cx="444960" cy="4449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7"/>
          <p:cNvSpPr/>
          <p:nvPr/>
        </p:nvSpPr>
        <p:spPr>
          <a:xfrm>
            <a:off x="411480" y="1474560"/>
            <a:ext cx="4449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87;p17"/>
          <p:cNvSpPr/>
          <p:nvPr/>
        </p:nvSpPr>
        <p:spPr>
          <a:xfrm>
            <a:off x="1028880" y="1454040"/>
            <a:ext cx="7131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Cross-selling e Upselling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88;p17"/>
          <p:cNvSpPr/>
          <p:nvPr/>
        </p:nvSpPr>
        <p:spPr>
          <a:xfrm>
            <a:off x="1028880" y="1735200"/>
            <a:ext cx="713160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Métrica: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Migrar 10% ou 20% da base atual para os novos produtos   </a:t>
            </a:r>
            <a:br>
              <a:rPr sz="1100"/>
            </a:b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Por quê: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O faturamento cresce sem gastar um centavo a mais em aquisição de novos clientes (CAC)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89;p17"/>
          <p:cNvSpPr/>
          <p:nvPr/>
        </p:nvSpPr>
        <p:spPr>
          <a:xfrm>
            <a:off x="411480" y="2537640"/>
            <a:ext cx="444960" cy="4449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90;p17"/>
          <p:cNvSpPr/>
          <p:nvPr/>
        </p:nvSpPr>
        <p:spPr>
          <a:xfrm>
            <a:off x="411480" y="2537640"/>
            <a:ext cx="4449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91;p17"/>
          <p:cNvSpPr/>
          <p:nvPr/>
        </p:nvSpPr>
        <p:spPr>
          <a:xfrm>
            <a:off x="1028880" y="2516760"/>
            <a:ext cx="7131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Lógica de Custo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92;p17"/>
          <p:cNvSpPr/>
          <p:nvPr/>
        </p:nvSpPr>
        <p:spPr>
          <a:xfrm>
            <a:off x="1028880" y="2797920"/>
            <a:ext cx="754308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Métrica: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A concorrência cobra R$ 300 a R$ 450 por aluno/ano das famílias   </a:t>
            </a:r>
            <a:br>
              <a:rPr sz="1100"/>
            </a:b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Por quê: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O socioemocional não drena o caixa da escola — é uma linha de receita nova e autofinanciável via repasse de material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93;p17"/>
          <p:cNvSpPr/>
          <p:nvPr/>
        </p:nvSpPr>
        <p:spPr>
          <a:xfrm>
            <a:off x="411480" y="3600360"/>
            <a:ext cx="444960" cy="4449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4;p17"/>
          <p:cNvSpPr/>
          <p:nvPr/>
        </p:nvSpPr>
        <p:spPr>
          <a:xfrm>
            <a:off x="411480" y="3600360"/>
            <a:ext cx="4449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95;p17"/>
          <p:cNvSpPr/>
          <p:nvPr/>
        </p:nvSpPr>
        <p:spPr>
          <a:xfrm>
            <a:off x="1028880" y="3579840"/>
            <a:ext cx="7131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Saúde Mental (Acolhimento e Combate ao Bullying)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96;p17"/>
          <p:cNvSpPr/>
          <p:nvPr/>
        </p:nvSpPr>
        <p:spPr>
          <a:xfrm>
            <a:off x="1028880" y="3861000"/>
            <a:ext cx="713160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Métrica: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Escolas com forte apelo socioemocional reduzem o churn e aumentam a indicação orgânica   </a:t>
            </a:r>
            <a:br>
              <a:rPr sz="1100"/>
            </a:b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Por quê: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Entrega um valor intangível altíssimo: a segurança de que o filho está sendo desenvolvido integralmente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97;p17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3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03;p18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4;p18"/>
          <p:cNvSpPr/>
          <p:nvPr/>
        </p:nvSpPr>
        <p:spPr>
          <a:xfrm>
            <a:off x="411480" y="514440"/>
            <a:ext cx="788616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Inteligência Artificial: Expansão do Cosmos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5;p18"/>
          <p:cNvSpPr/>
          <p:nvPr/>
        </p:nvSpPr>
        <p:spPr>
          <a:xfrm>
            <a:off x="411480" y="960120"/>
            <a:ext cx="7543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Combate à concorrência (SAS / Arco)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6;p18"/>
          <p:cNvSpPr/>
          <p:nvPr/>
        </p:nvSpPr>
        <p:spPr>
          <a:xfrm>
            <a:off x="411480" y="1440360"/>
            <a:ext cx="3976920" cy="308556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07;p18"/>
          <p:cNvSpPr/>
          <p:nvPr/>
        </p:nvSpPr>
        <p:spPr>
          <a:xfrm>
            <a:off x="651600" y="1611720"/>
            <a:ext cx="349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CONCORRÊNCIA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8;p18"/>
          <p:cNvSpPr/>
          <p:nvPr/>
        </p:nvSpPr>
        <p:spPr>
          <a:xfrm>
            <a:off x="651600" y="1954440"/>
            <a:ext cx="349704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54160" indent="-260280">
              <a:lnSpc>
                <a:spcPct val="100000"/>
              </a:lnSpc>
              <a:buClr>
                <a:srgbClr val="4A4A4A"/>
              </a:buClr>
              <a:buFont typeface="Calibri"/>
              <a:buChar char="✗"/>
            </a:pPr>
            <a:r>
              <a:rPr lang="pt-BR" sz="11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SAS/Arco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 fazem parceria com o ChatGPT na correção de redações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60280">
              <a:lnSpc>
                <a:spcPct val="100000"/>
              </a:lnSpc>
              <a:spcBef>
                <a:spcPts val="1100"/>
              </a:spcBef>
              <a:buClr>
                <a:srgbClr val="4A4A4A"/>
              </a:buClr>
              <a:buFont typeface="Calibri"/>
              <a:buChar char="✗"/>
            </a:pPr>
            <a:r>
              <a:rPr lang="pt-BR" sz="11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Diferencial fraco: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 usam IA de forma robótica para os alunos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60280">
              <a:lnSpc>
                <a:spcPct val="100000"/>
              </a:lnSpc>
              <a:spcBef>
                <a:spcPts val="1100"/>
              </a:spcBef>
              <a:buClr>
                <a:srgbClr val="4A4A4A"/>
              </a:buClr>
              <a:buFont typeface="Calibri"/>
              <a:buChar char="✗"/>
            </a:pPr>
            <a:r>
              <a:rPr lang="pt-BR" sz="11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Marketing sem intencionalidade pedagógica: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 entregam respostas, mas não convertem em aprovações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09;p18"/>
          <p:cNvSpPr/>
          <p:nvPr/>
        </p:nvSpPr>
        <p:spPr>
          <a:xfrm>
            <a:off x="4595040" y="1440360"/>
            <a:ext cx="3976920" cy="3085560"/>
          </a:xfrm>
          <a:prstGeom prst="roundRect">
            <a:avLst>
              <a:gd name="adj" fmla="val 1778"/>
            </a:avLst>
          </a:prstGeom>
          <a:solidFill>
            <a:srgbClr val="24305E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10;p18"/>
          <p:cNvSpPr/>
          <p:nvPr/>
        </p:nvSpPr>
        <p:spPr>
          <a:xfrm>
            <a:off x="4834800" y="1611720"/>
            <a:ext cx="349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RESPOSTA POLIEDRO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111;p18"/>
          <p:cNvSpPr/>
          <p:nvPr/>
        </p:nvSpPr>
        <p:spPr>
          <a:xfrm>
            <a:off x="4834800" y="1954440"/>
            <a:ext cx="349704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54160" indent="-260280">
              <a:lnSpc>
                <a:spcPct val="100000"/>
              </a:lnSpc>
              <a:buClr>
                <a:srgbClr val="FFFFFF"/>
              </a:buClr>
              <a:buFont typeface="Calibri"/>
              <a:buChar char="✓"/>
            </a:pPr>
            <a:r>
              <a:rPr lang="pt-BR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Expansão do Cosmos</a:t>
            </a:r>
            <a:r>
              <a:rPr lang="pt-BR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o hub de IA integrado ao P+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60280">
              <a:lnSpc>
                <a:spcPct val="100000"/>
              </a:lnSpc>
              <a:spcBef>
                <a:spcPts val="799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Apoia o maior gargalo da escola particular hoje: </a:t>
            </a:r>
            <a:br>
              <a:rPr sz="1100"/>
            </a:br>
            <a:r>
              <a:rPr lang="pt-BR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 sobrecarga e saúde mental do professor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60280">
              <a:lnSpc>
                <a:spcPct val="100000"/>
              </a:lnSpc>
              <a:spcBef>
                <a:spcPts val="799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 P+ diagnostica gargalos pedagógicos e eleva a nota média da escola no Enem e nos vestibulares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60280">
              <a:lnSpc>
                <a:spcPct val="100000"/>
              </a:lnSpc>
              <a:spcBef>
                <a:spcPts val="799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Gera os dados que provam aos pais que o investimento na escola tem retorno real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2;p18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4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118;p19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19;p19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Expansão de Novos Negócios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0;p19"/>
          <p:cNvSpPr/>
          <p:nvPr/>
        </p:nvSpPr>
        <p:spPr>
          <a:xfrm>
            <a:off x="411480" y="960120"/>
            <a:ext cx="7543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Da base atual ao mercado nacional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21;p19"/>
          <p:cNvSpPr/>
          <p:nvPr/>
        </p:nvSpPr>
        <p:spPr>
          <a:xfrm>
            <a:off x="411480" y="1577520"/>
            <a:ext cx="2653200" cy="2536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22;p19"/>
          <p:cNvSpPr/>
          <p:nvPr/>
        </p:nvSpPr>
        <p:spPr>
          <a:xfrm>
            <a:off x="617400" y="1783080"/>
            <a:ext cx="410760" cy="4107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23;p19"/>
          <p:cNvSpPr/>
          <p:nvPr/>
        </p:nvSpPr>
        <p:spPr>
          <a:xfrm>
            <a:off x="617400" y="17830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24;p19"/>
          <p:cNvSpPr/>
          <p:nvPr/>
        </p:nvSpPr>
        <p:spPr>
          <a:xfrm>
            <a:off x="617400" y="2297520"/>
            <a:ext cx="2241720" cy="30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Início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25;p19"/>
          <p:cNvSpPr/>
          <p:nvPr/>
        </p:nvSpPr>
        <p:spPr>
          <a:xfrm>
            <a:off x="617400" y="2640240"/>
            <a:ext cx="22417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Identificar, na base atual, escolas que mais consomem produtos adicionais e têm um perfil específico (porte, região, mensalidade)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26;p19"/>
          <p:cNvSpPr/>
          <p:nvPr/>
        </p:nvSpPr>
        <p:spPr>
          <a:xfrm>
            <a:off x="3195720" y="1577520"/>
            <a:ext cx="2653200" cy="2536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27;p19"/>
          <p:cNvSpPr/>
          <p:nvPr/>
        </p:nvSpPr>
        <p:spPr>
          <a:xfrm>
            <a:off x="3401640" y="1783080"/>
            <a:ext cx="410760" cy="4107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28;p19"/>
          <p:cNvSpPr/>
          <p:nvPr/>
        </p:nvSpPr>
        <p:spPr>
          <a:xfrm>
            <a:off x="3401640" y="17830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29;p19"/>
          <p:cNvSpPr/>
          <p:nvPr/>
        </p:nvSpPr>
        <p:spPr>
          <a:xfrm>
            <a:off x="3401640" y="2297520"/>
            <a:ext cx="2241720" cy="30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A Ponte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0;p19"/>
          <p:cNvSpPr/>
          <p:nvPr/>
        </p:nvSpPr>
        <p:spPr>
          <a:xfrm>
            <a:off x="3401640" y="2640240"/>
            <a:ext cx="22417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Entendido o perfil dos melhores clientes internos, mapeamos onde estão novas escolas com esse exato mesmo perfil no mercado nacional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1;p19"/>
          <p:cNvSpPr/>
          <p:nvPr/>
        </p:nvSpPr>
        <p:spPr>
          <a:xfrm>
            <a:off x="5980320" y="1577520"/>
            <a:ext cx="2653200" cy="2536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2;p19"/>
          <p:cNvSpPr/>
          <p:nvPr/>
        </p:nvSpPr>
        <p:spPr>
          <a:xfrm>
            <a:off x="6185880" y="1783080"/>
            <a:ext cx="410760" cy="4107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3;p19"/>
          <p:cNvSpPr/>
          <p:nvPr/>
        </p:nvSpPr>
        <p:spPr>
          <a:xfrm>
            <a:off x="6185880" y="17830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4;p19"/>
          <p:cNvSpPr/>
          <p:nvPr/>
        </p:nvSpPr>
        <p:spPr>
          <a:xfrm>
            <a:off x="6185880" y="2297520"/>
            <a:ext cx="2241720" cy="30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Portfólio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35;p19"/>
          <p:cNvSpPr/>
          <p:nvPr/>
        </p:nvSpPr>
        <p:spPr>
          <a:xfrm>
            <a:off x="6185880" y="2640240"/>
            <a:ext cx="22417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Polígono abre mercado em escolas fora do perfil tradicional; Poliedro foca onde a equipe comercial deve concentrar esforço, reduzindo CAC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36;p19"/>
          <p:cNvSpPr/>
          <p:nvPr/>
        </p:nvSpPr>
        <p:spPr>
          <a:xfrm>
            <a:off x="411480" y="4251960"/>
            <a:ext cx="8297640" cy="513720"/>
          </a:xfrm>
          <a:prstGeom prst="roundRect">
            <a:avLst>
              <a:gd name="adj" fmla="val 8000"/>
            </a:avLst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37;p19"/>
          <p:cNvSpPr/>
          <p:nvPr/>
        </p:nvSpPr>
        <p:spPr>
          <a:xfrm>
            <a:off x="617400" y="4251960"/>
            <a:ext cx="788616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 dor resolvida: um “Score de Potencial” que limpa os ruídos da base e entrega ao time de vendas uma lista ranqueada de municípios e escolas quentes para prospectar.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38;p19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5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44;p20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45;p20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Onde Estão Nossos Clientes Ideais?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46;p20"/>
          <p:cNvSpPr/>
          <p:nvPr/>
        </p:nvSpPr>
        <p:spPr>
          <a:xfrm>
            <a:off x="411480" y="960120"/>
            <a:ext cx="7543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Desafios da prospecção tradicional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47;p20"/>
          <p:cNvSpPr/>
          <p:nvPr/>
        </p:nvSpPr>
        <p:spPr>
          <a:xfrm>
            <a:off x="411480" y="1440360"/>
            <a:ext cx="3976920" cy="308556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48;p20"/>
          <p:cNvSpPr/>
          <p:nvPr/>
        </p:nvSpPr>
        <p:spPr>
          <a:xfrm>
            <a:off x="651600" y="1611720"/>
            <a:ext cx="349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DESAFIOS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20"/>
          <p:cNvSpPr/>
          <p:nvPr/>
        </p:nvSpPr>
        <p:spPr>
          <a:xfrm>
            <a:off x="651600" y="1954440"/>
            <a:ext cx="349704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54160" indent="-254160">
              <a:lnSpc>
                <a:spcPct val="100000"/>
              </a:lnSpc>
              <a:buClr>
                <a:srgbClr val="4A4A4A"/>
              </a:buClr>
              <a:buFont typeface="Calibri"/>
              <a:buChar char="✗"/>
            </a:pPr>
            <a:r>
              <a:rPr lang="pt-BR" sz="10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Esforço comercial disperso: </a:t>
            </a: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prospectar escolas “no escuro” gera CAC alto e ineficiente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4A4A4A"/>
              </a:buClr>
              <a:buFont typeface="Calibri"/>
              <a:buChar char="✗"/>
            </a:pPr>
            <a:r>
              <a:rPr lang="pt-BR" sz="10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Orçamentos desiguais: </a:t>
            </a: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nem toda escola particular tem margem ou perfil para soluções premium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4A4A4A"/>
              </a:buClr>
              <a:buFont typeface="Calibri"/>
              <a:buChar char="✗"/>
            </a:pPr>
            <a:r>
              <a:rPr lang="pt-BR" sz="1000" b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Ilusão do PIB Municipal:</a:t>
            </a: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 cidades ricas em PIB (indústria, commodities) muitas vezes não têm famílias com alto poder de compra real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20"/>
          <p:cNvSpPr/>
          <p:nvPr/>
        </p:nvSpPr>
        <p:spPr>
          <a:xfrm>
            <a:off x="4595040" y="1440360"/>
            <a:ext cx="3976920" cy="3085560"/>
          </a:xfrm>
          <a:prstGeom prst="roundRect">
            <a:avLst>
              <a:gd name="adj" fmla="val 1778"/>
            </a:avLst>
          </a:prstGeom>
          <a:solidFill>
            <a:srgbClr val="24305E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20"/>
          <p:cNvSpPr/>
          <p:nvPr/>
        </p:nvSpPr>
        <p:spPr>
          <a:xfrm>
            <a:off x="4834800" y="1611720"/>
            <a:ext cx="349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A SOLUÇÃO INTELIGENTE DE MERCADO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20"/>
          <p:cNvSpPr/>
          <p:nvPr/>
        </p:nvSpPr>
        <p:spPr>
          <a:xfrm>
            <a:off x="4834800" y="1954440"/>
            <a:ext cx="349704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54160" indent="-254160">
              <a:lnSpc>
                <a:spcPct val="100000"/>
              </a:lnSpc>
              <a:buClr>
                <a:srgbClr val="FFFFFF"/>
              </a:buClr>
              <a:buFont typeface="Calibri"/>
              <a:buChar char="✓"/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Cruzamento estratégico:</a:t>
            </a: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Censo Escolar (INEP) + renda domiciliar real do Censo (IBGE 2022)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Foco no bolso dos pais:</a:t>
            </a: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identificação cirúrgica das famílias que de fato pagam mensalidades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4160" indent="-254160">
              <a:lnSpc>
                <a:spcPct val="100000"/>
              </a:lnSpc>
              <a:spcBef>
                <a:spcPts val="1100"/>
              </a:spcBef>
              <a:buClr>
                <a:srgbClr val="FFFFFF"/>
              </a:buClr>
              <a:buFont typeface="Calibri"/>
              <a:buChar char="✓"/>
            </a:pPr>
            <a:r>
              <a:rPr lang="pt-B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Segmentação adequada:</a:t>
            </a: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direcionar o produto certo (Poliedro vs. Polígono) para o perfil econômico real da região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53;p20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6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59;p21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60;p21"/>
          <p:cNvSpPr/>
          <p:nvPr/>
        </p:nvSpPr>
        <p:spPr>
          <a:xfrm>
            <a:off x="411480" y="514440"/>
            <a:ext cx="788616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Método de Ranking: Três Variáveis Inteligentes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61;p21"/>
          <p:cNvSpPr/>
          <p:nvPr/>
        </p:nvSpPr>
        <p:spPr>
          <a:xfrm>
            <a:off x="411480" y="1200240"/>
            <a:ext cx="410760" cy="4107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2;p21"/>
          <p:cNvSpPr/>
          <p:nvPr/>
        </p:nvSpPr>
        <p:spPr>
          <a:xfrm>
            <a:off x="411480" y="12002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3;p21"/>
          <p:cNvSpPr/>
          <p:nvPr/>
        </p:nvSpPr>
        <p:spPr>
          <a:xfrm>
            <a:off x="994320" y="1179720"/>
            <a:ext cx="7200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Renda Domiciliar Real  (fator principal — peso 85%)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4;p21"/>
          <p:cNvSpPr/>
          <p:nvPr/>
        </p:nvSpPr>
        <p:spPr>
          <a:xfrm>
            <a:off x="994320" y="1454040"/>
            <a:ext cx="720036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Métrica: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% de famílias com rendimento acima de 5 salários mínimos (Censo 2022)</a:t>
            </a:r>
            <a:br>
              <a:rPr sz="1100"/>
            </a:b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Por quê: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Indica o poder de compra real e define o fit para o Poliedro Premium ou para a flexibilidade do Polígono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5;p21"/>
          <p:cNvSpPr/>
          <p:nvPr/>
        </p:nvSpPr>
        <p:spPr>
          <a:xfrm>
            <a:off x="411480" y="2352240"/>
            <a:ext cx="410760" cy="4107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6;p21"/>
          <p:cNvSpPr/>
          <p:nvPr/>
        </p:nvSpPr>
        <p:spPr>
          <a:xfrm>
            <a:off x="411480" y="23522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7;p21"/>
          <p:cNvSpPr/>
          <p:nvPr/>
        </p:nvSpPr>
        <p:spPr>
          <a:xfrm>
            <a:off x="994320" y="2331720"/>
            <a:ext cx="7200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População Infantil  (demanda ativa)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8;p21"/>
          <p:cNvSpPr/>
          <p:nvPr/>
        </p:nvSpPr>
        <p:spPr>
          <a:xfrm>
            <a:off x="994320" y="2606040"/>
            <a:ext cx="720036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Métrica: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População de 0 a 17 anos residente no município (Censo 2022)</a:t>
            </a:r>
            <a:br>
              <a:rPr sz="1100"/>
            </a:b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Por quê: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Filtro técnico: mínimo de 1.000 crianças para elegibilidade — cidades ricas e envelhecidas são mercados sem futuro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9;p21"/>
          <p:cNvSpPr/>
          <p:nvPr/>
        </p:nvSpPr>
        <p:spPr>
          <a:xfrm>
            <a:off x="411480" y="3504600"/>
            <a:ext cx="410760" cy="4107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70;p21"/>
          <p:cNvSpPr/>
          <p:nvPr/>
        </p:nvSpPr>
        <p:spPr>
          <a:xfrm>
            <a:off x="411480" y="3504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1;p21"/>
          <p:cNvSpPr/>
          <p:nvPr/>
        </p:nvSpPr>
        <p:spPr>
          <a:xfrm>
            <a:off x="994320" y="3483720"/>
            <a:ext cx="7200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Porte e Infraestrutura  (peso 30% no score da escola)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2;p21"/>
          <p:cNvSpPr/>
          <p:nvPr/>
        </p:nvSpPr>
        <p:spPr>
          <a:xfrm>
            <a:off x="994320" y="3758040"/>
            <a:ext cx="720036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8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Métrica: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Número de salas de aula ativas (INEP, Censo Escolar 2023)</a:t>
            </a:r>
            <a:br>
              <a:rPr sz="1100"/>
            </a:b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Por quê: </a:t>
            </a: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Escolas maiores possuem melhor infraestrutura e maior verba para contratos complexos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3;p21"/>
          <p:cNvSpPr/>
          <p:nvPr/>
        </p:nvSpPr>
        <p:spPr>
          <a:xfrm>
            <a:off x="411480" y="4697640"/>
            <a:ext cx="829764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8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PIB per capita permanece na base apenas como dado de contexto — não entra no score, evitando o viés de cidades industriais/mineradoras.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74;p21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7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30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80;p22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81;p22"/>
          <p:cNvSpPr/>
          <p:nvPr/>
        </p:nvSpPr>
        <p:spPr>
          <a:xfrm>
            <a:off x="411480" y="514440"/>
            <a:ext cx="788616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Escopo e Resultados da Análise</a:t>
            </a:r>
            <a:endParaRPr lang="pt-BR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82;p22"/>
          <p:cNvSpPr/>
          <p:nvPr/>
        </p:nvSpPr>
        <p:spPr>
          <a:xfrm>
            <a:off x="411480" y="960120"/>
            <a:ext cx="7543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E8C9CE"/>
                </a:solidFill>
                <a:effectLst/>
                <a:uFillTx/>
                <a:latin typeface="Calibri"/>
                <a:ea typeface="Calibri"/>
              </a:rPr>
              <a:t>Dados tratados e analisados — metodologia de renda domiciliar real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83;p22"/>
          <p:cNvSpPr/>
          <p:nvPr/>
        </p:nvSpPr>
        <p:spPr>
          <a:xfrm>
            <a:off x="411480" y="1474560"/>
            <a:ext cx="3839760" cy="1439640"/>
          </a:xfrm>
          <a:prstGeom prst="roundRect">
            <a:avLst>
              <a:gd name="adj" fmla="val 3810"/>
            </a:avLst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84;p22"/>
          <p:cNvSpPr/>
          <p:nvPr/>
        </p:nvSpPr>
        <p:spPr>
          <a:xfrm>
            <a:off x="411480" y="1542960"/>
            <a:ext cx="383976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4800" b="1" u="none" strike="noStrike">
                <a:solidFill>
                  <a:srgbClr val="C99A3B"/>
                </a:solidFill>
                <a:effectLst/>
                <a:uFillTx/>
                <a:latin typeface="Cambria"/>
                <a:ea typeface="Cambria"/>
              </a:rPr>
              <a:t>150</a:t>
            </a:r>
            <a:endParaRPr lang="pt-B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85;p22"/>
          <p:cNvSpPr/>
          <p:nvPr/>
        </p:nvSpPr>
        <p:spPr>
          <a:xfrm>
            <a:off x="617400" y="2297520"/>
            <a:ext cx="34282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Golden Leads — escolas com score no Top 1% nacional, prontas para abordagem premium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6;p22"/>
          <p:cNvSpPr/>
          <p:nvPr/>
        </p:nvSpPr>
        <p:spPr>
          <a:xfrm>
            <a:off x="4457880" y="1474560"/>
            <a:ext cx="2022480" cy="1439640"/>
          </a:xfrm>
          <a:prstGeom prst="roundRect">
            <a:avLst>
              <a:gd name="adj" fmla="val 3810"/>
            </a:avLst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7;p22"/>
          <p:cNvSpPr/>
          <p:nvPr/>
        </p:nvSpPr>
        <p:spPr>
          <a:xfrm>
            <a:off x="4457880" y="1577520"/>
            <a:ext cx="202248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C99A3B"/>
                </a:solidFill>
                <a:effectLst/>
                <a:uFillTx/>
                <a:latin typeface="Cambria"/>
                <a:ea typeface="Cambria"/>
              </a:rPr>
              <a:t>33.915</a:t>
            </a:r>
            <a:endParaRPr lang="pt-BR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8;p22"/>
          <p:cNvSpPr/>
          <p:nvPr/>
        </p:nvSpPr>
        <p:spPr>
          <a:xfrm>
            <a:off x="4560480" y="2160360"/>
            <a:ext cx="181656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Escolas privadas mapeadas e cruzadas (INEP)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9;p22"/>
          <p:cNvSpPr/>
          <p:nvPr/>
        </p:nvSpPr>
        <p:spPr>
          <a:xfrm>
            <a:off x="6604200" y="1474560"/>
            <a:ext cx="2022480" cy="1439640"/>
          </a:xfrm>
          <a:prstGeom prst="roundRect">
            <a:avLst>
              <a:gd name="adj" fmla="val 3810"/>
            </a:avLst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90;p22"/>
          <p:cNvSpPr/>
          <p:nvPr/>
        </p:nvSpPr>
        <p:spPr>
          <a:xfrm>
            <a:off x="6604200" y="1577520"/>
            <a:ext cx="202248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C99A3B"/>
                </a:solidFill>
                <a:effectLst/>
                <a:uFillTx/>
                <a:latin typeface="Cambria"/>
                <a:ea typeface="Cambria"/>
              </a:rPr>
              <a:t>4.514</a:t>
            </a:r>
            <a:endParaRPr lang="pt-BR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191;p22"/>
          <p:cNvSpPr/>
          <p:nvPr/>
        </p:nvSpPr>
        <p:spPr>
          <a:xfrm>
            <a:off x="6707160" y="2160360"/>
            <a:ext cx="181656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Municípios elegíveis </a:t>
            </a:r>
            <a:br>
              <a:rPr sz="900"/>
            </a:br>
            <a:r>
              <a:rPr lang="pt-BR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(alta densidade infantil ativa)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92;p22"/>
          <p:cNvSpPr/>
          <p:nvPr/>
        </p:nvSpPr>
        <p:spPr>
          <a:xfrm>
            <a:off x="4457880" y="3051720"/>
            <a:ext cx="2022480" cy="1439640"/>
          </a:xfrm>
          <a:prstGeom prst="roundRect">
            <a:avLst>
              <a:gd name="adj" fmla="val 3810"/>
            </a:avLst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93;p22"/>
          <p:cNvSpPr/>
          <p:nvPr/>
        </p:nvSpPr>
        <p:spPr>
          <a:xfrm>
            <a:off x="4457880" y="3154680"/>
            <a:ext cx="202248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C99A3B"/>
                </a:solidFill>
                <a:effectLst/>
                <a:uFillTx/>
                <a:latin typeface="Cambria"/>
                <a:ea typeface="Cambria"/>
              </a:rPr>
              <a:t>2.771</a:t>
            </a:r>
            <a:endParaRPr lang="pt-BR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4;p22"/>
          <p:cNvSpPr/>
          <p:nvPr/>
        </p:nvSpPr>
        <p:spPr>
          <a:xfrm>
            <a:off x="4560480" y="3737520"/>
            <a:ext cx="181656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Municípios com escola privada representada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5;p22"/>
          <p:cNvSpPr/>
          <p:nvPr/>
        </p:nvSpPr>
        <p:spPr>
          <a:xfrm>
            <a:off x="6604200" y="3051720"/>
            <a:ext cx="2022480" cy="1439640"/>
          </a:xfrm>
          <a:prstGeom prst="roundRect">
            <a:avLst>
              <a:gd name="adj" fmla="val 3810"/>
            </a:avLst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6;p22"/>
          <p:cNvSpPr/>
          <p:nvPr/>
        </p:nvSpPr>
        <p:spPr>
          <a:xfrm>
            <a:off x="6604200" y="3154680"/>
            <a:ext cx="202248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C99A3B"/>
                </a:solidFill>
                <a:effectLst/>
                <a:uFillTx/>
                <a:latin typeface="Cambria"/>
                <a:ea typeface="Cambria"/>
              </a:rPr>
              <a:t>11,3</a:t>
            </a:r>
            <a:endParaRPr lang="pt-BR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7;p22"/>
          <p:cNvSpPr/>
          <p:nvPr/>
        </p:nvSpPr>
        <p:spPr>
          <a:xfrm>
            <a:off x="6707160" y="3737520"/>
            <a:ext cx="181656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Média nacional de salas de aula por escola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8;p22"/>
          <p:cNvSpPr/>
          <p:nvPr/>
        </p:nvSpPr>
        <p:spPr>
          <a:xfrm>
            <a:off x="411480" y="4595040"/>
            <a:ext cx="829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0" i="1" u="none" strike="noStrike">
                <a:solidFill>
                  <a:srgbClr val="E8C9CE"/>
                </a:solidFill>
                <a:effectLst/>
                <a:uFillTx/>
                <a:latin typeface="Calibri"/>
                <a:ea typeface="Calibri"/>
              </a:rPr>
              <a:t>Score socioeconômico médio dos municípios: 0,33 (escala 0 a 1)  •  Score de potencial das escolas líderes: até 0,99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9;p22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8</a:t>
            </a:r>
            <a:endParaRPr lang="pt-BR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205;p23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206;p23"/>
          <p:cNvSpPr/>
          <p:nvPr/>
        </p:nvSpPr>
        <p:spPr>
          <a:xfrm>
            <a:off x="411480" y="514440"/>
            <a:ext cx="82288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Os Melhores Mercados Nacionais para Prospecção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8" name="Google Shape;207;p23"/>
          <p:cNvGraphicFramePr/>
          <p:nvPr/>
        </p:nvGraphicFramePr>
        <p:xfrm>
          <a:off x="411480" y="1166040"/>
          <a:ext cx="8296560" cy="2056320"/>
        </p:xfrm>
        <a:graphic>
          <a:graphicData uri="http://schemas.openxmlformats.org/drawingml/2006/table">
            <a:tbl>
              <a:tblPr/>
              <a:tblGrid>
                <a:gridCol w="479880"/>
                <a:gridCol w="3771720"/>
                <a:gridCol w="1577160"/>
                <a:gridCol w="1234080"/>
                <a:gridCol w="1234080"/>
              </a:tblGrid>
              <a:tr h="342720"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#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Escola de Alto Potencial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Score Socioec.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Salas Ativas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Score Geral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</a:tr>
              <a:tr h="342720"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Colégio Salesiano Santa Rosa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0,961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45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0,994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Eduardo Gomes Colégio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0,924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47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0,992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</a:tr>
              <a:tr h="342720"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Escola Villare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0,924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45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0,992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Educandário Imaculada Conceição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0,864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50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0,991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</a:tr>
              <a:tr h="342720"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Colégio Santo Agostinho (Unidade Nova Lima)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0,803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78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0,991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Google Shape;208;p23"/>
          <p:cNvSpPr/>
          <p:nvPr/>
        </p:nvSpPr>
        <p:spPr>
          <a:xfrm>
            <a:off x="411480" y="3497760"/>
            <a:ext cx="8297640" cy="959400"/>
          </a:xfrm>
          <a:prstGeom prst="roundRect">
            <a:avLst>
              <a:gd name="adj" fmla="val 5714"/>
            </a:avLst>
          </a:prstGeom>
          <a:solidFill>
            <a:srgbClr val="2430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9;p23"/>
          <p:cNvSpPr/>
          <p:nvPr/>
        </p:nvSpPr>
        <p:spPr>
          <a:xfrm>
            <a:off x="651600" y="3497760"/>
            <a:ext cx="781740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Os líderes do ranking combinam renda de topo de pirâmide, excelente infraestrutura e mercado infantil saudável — sem nenhuma cidade de base industrial/mineradora no topo, confirmando que a correção do viés de PIB funcionou.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10;p23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9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216;p24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217;p24"/>
          <p:cNvSpPr/>
          <p:nvPr/>
        </p:nvSpPr>
        <p:spPr>
          <a:xfrm>
            <a:off x="411480" y="514440"/>
            <a:ext cx="82288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Três Segmentos Estratégicos de Oportunidade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218;p24"/>
          <p:cNvSpPr/>
          <p:nvPr/>
        </p:nvSpPr>
        <p:spPr>
          <a:xfrm>
            <a:off x="411480" y="1166040"/>
            <a:ext cx="2653560" cy="3119760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219;p24"/>
          <p:cNvSpPr/>
          <p:nvPr/>
        </p:nvSpPr>
        <p:spPr>
          <a:xfrm>
            <a:off x="411480" y="1166040"/>
            <a:ext cx="2653200" cy="61668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220;p24"/>
          <p:cNvSpPr/>
          <p:nvPr/>
        </p:nvSpPr>
        <p:spPr>
          <a:xfrm>
            <a:off x="411480" y="1542960"/>
            <a:ext cx="2653200" cy="23940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21;p24"/>
          <p:cNvSpPr/>
          <p:nvPr/>
        </p:nvSpPr>
        <p:spPr>
          <a:xfrm>
            <a:off x="582840" y="1166040"/>
            <a:ext cx="6850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1º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222;p24"/>
          <p:cNvSpPr/>
          <p:nvPr/>
        </p:nvSpPr>
        <p:spPr>
          <a:xfrm>
            <a:off x="1200240" y="1166040"/>
            <a:ext cx="16930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GOLDEN LEADS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23;p24"/>
          <p:cNvSpPr/>
          <p:nvPr/>
        </p:nvSpPr>
        <p:spPr>
          <a:xfrm>
            <a:off x="617400" y="195444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FAIXA DE SCORE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24;p24"/>
          <p:cNvSpPr/>
          <p:nvPr/>
        </p:nvSpPr>
        <p:spPr>
          <a:xfrm>
            <a:off x="617400" y="2146680"/>
            <a:ext cx="22417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Score 0,90 a 1,00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25;p24"/>
          <p:cNvSpPr/>
          <p:nvPr/>
        </p:nvSpPr>
        <p:spPr>
          <a:xfrm>
            <a:off x="617400" y="243468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VOLUME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26;p24"/>
          <p:cNvSpPr/>
          <p:nvPr/>
        </p:nvSpPr>
        <p:spPr>
          <a:xfrm>
            <a:off x="617400" y="2626560"/>
            <a:ext cx="22417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994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227;p24"/>
          <p:cNvSpPr/>
          <p:nvPr/>
        </p:nvSpPr>
        <p:spPr>
          <a:xfrm>
            <a:off x="617400" y="291456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FOCO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228;p24"/>
          <p:cNvSpPr/>
          <p:nvPr/>
        </p:nvSpPr>
        <p:spPr>
          <a:xfrm>
            <a:off x="617400" y="3106800"/>
            <a:ext cx="22417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Tradicional (Alta Renda)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29;p24"/>
          <p:cNvSpPr/>
          <p:nvPr/>
        </p:nvSpPr>
        <p:spPr>
          <a:xfrm>
            <a:off x="617400" y="353196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AÇÃO COMERCIAL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30;p24"/>
          <p:cNvSpPr/>
          <p:nvPr/>
        </p:nvSpPr>
        <p:spPr>
          <a:xfrm>
            <a:off x="617400" y="3723840"/>
            <a:ext cx="22417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1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Proposta consultiva premium direta com mantenedores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31;p24"/>
          <p:cNvSpPr/>
          <p:nvPr/>
        </p:nvSpPr>
        <p:spPr>
          <a:xfrm>
            <a:off x="3195720" y="1166040"/>
            <a:ext cx="2653200" cy="3119760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32;p24"/>
          <p:cNvSpPr/>
          <p:nvPr/>
        </p:nvSpPr>
        <p:spPr>
          <a:xfrm>
            <a:off x="3195720" y="1166040"/>
            <a:ext cx="2653200" cy="616680"/>
          </a:xfrm>
          <a:prstGeom prst="roundRect">
            <a:avLst>
              <a:gd name="adj" fmla="val 8889"/>
            </a:avLst>
          </a:prstGeom>
          <a:solidFill>
            <a:srgbClr val="2430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233;p24"/>
          <p:cNvSpPr/>
          <p:nvPr/>
        </p:nvSpPr>
        <p:spPr>
          <a:xfrm>
            <a:off x="3195720" y="1542960"/>
            <a:ext cx="2653200" cy="239400"/>
          </a:xfrm>
          <a:prstGeom prst="rect">
            <a:avLst/>
          </a:prstGeom>
          <a:solidFill>
            <a:srgbClr val="2430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234;p24"/>
          <p:cNvSpPr/>
          <p:nvPr/>
        </p:nvSpPr>
        <p:spPr>
          <a:xfrm>
            <a:off x="3367440" y="1166040"/>
            <a:ext cx="6850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2º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235;p24"/>
          <p:cNvSpPr/>
          <p:nvPr/>
        </p:nvSpPr>
        <p:spPr>
          <a:xfrm>
            <a:off x="3860280" y="1165680"/>
            <a:ext cx="181728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PROSPECTOS QUALIFICADOS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236;p24"/>
          <p:cNvSpPr/>
          <p:nvPr/>
        </p:nvSpPr>
        <p:spPr>
          <a:xfrm>
            <a:off x="3401640" y="195444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FAIXA DE SCORE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237;p24"/>
          <p:cNvSpPr/>
          <p:nvPr/>
        </p:nvSpPr>
        <p:spPr>
          <a:xfrm>
            <a:off x="3401640" y="2146680"/>
            <a:ext cx="22417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Score 0,70 a 0,89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238;p24"/>
          <p:cNvSpPr/>
          <p:nvPr/>
        </p:nvSpPr>
        <p:spPr>
          <a:xfrm>
            <a:off x="3401640" y="243468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VOLUME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239;p24"/>
          <p:cNvSpPr/>
          <p:nvPr/>
        </p:nvSpPr>
        <p:spPr>
          <a:xfrm>
            <a:off x="3401640" y="2626560"/>
            <a:ext cx="22417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6466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240;p24"/>
          <p:cNvSpPr/>
          <p:nvPr/>
        </p:nvSpPr>
        <p:spPr>
          <a:xfrm>
            <a:off x="3401640" y="291456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FOCO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241;p24"/>
          <p:cNvSpPr/>
          <p:nvPr/>
        </p:nvSpPr>
        <p:spPr>
          <a:xfrm>
            <a:off x="3401640" y="3106800"/>
            <a:ext cx="22417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Polígono (Classe Média em crescimento)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242;p24"/>
          <p:cNvSpPr/>
          <p:nvPr/>
        </p:nvSpPr>
        <p:spPr>
          <a:xfrm>
            <a:off x="3401640" y="353196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AÇÃO COMERCIAL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243;p24"/>
          <p:cNvSpPr/>
          <p:nvPr/>
        </p:nvSpPr>
        <p:spPr>
          <a:xfrm>
            <a:off x="3401640" y="3723840"/>
            <a:ext cx="22417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1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Inbound estruturado focado em custo x benefício e flexibilidade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244;p24"/>
          <p:cNvSpPr/>
          <p:nvPr/>
        </p:nvSpPr>
        <p:spPr>
          <a:xfrm>
            <a:off x="5980320" y="1166040"/>
            <a:ext cx="2653200" cy="3119760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245;p24"/>
          <p:cNvSpPr/>
          <p:nvPr/>
        </p:nvSpPr>
        <p:spPr>
          <a:xfrm>
            <a:off x="5980320" y="1166040"/>
            <a:ext cx="2653200" cy="616680"/>
          </a:xfrm>
          <a:prstGeom prst="roundRect">
            <a:avLst>
              <a:gd name="adj" fmla="val 8889"/>
            </a:avLst>
          </a:prstGeom>
          <a:solidFill>
            <a:srgbClr val="6B718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246;p24"/>
          <p:cNvSpPr/>
          <p:nvPr/>
        </p:nvSpPr>
        <p:spPr>
          <a:xfrm>
            <a:off x="5980320" y="1542960"/>
            <a:ext cx="2653200" cy="239400"/>
          </a:xfrm>
          <a:prstGeom prst="rect">
            <a:avLst/>
          </a:prstGeom>
          <a:solidFill>
            <a:srgbClr val="6B718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247;p24"/>
          <p:cNvSpPr/>
          <p:nvPr/>
        </p:nvSpPr>
        <p:spPr>
          <a:xfrm>
            <a:off x="6151680" y="1166040"/>
            <a:ext cx="6850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3º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248;p24"/>
          <p:cNvSpPr/>
          <p:nvPr/>
        </p:nvSpPr>
        <p:spPr>
          <a:xfrm>
            <a:off x="6768720" y="1166040"/>
            <a:ext cx="16930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FUTURO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249;p24"/>
          <p:cNvSpPr/>
          <p:nvPr/>
        </p:nvSpPr>
        <p:spPr>
          <a:xfrm>
            <a:off x="6185880" y="195444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6B7189"/>
                </a:solidFill>
                <a:effectLst/>
                <a:uFillTx/>
                <a:latin typeface="Calibri"/>
                <a:ea typeface="Calibri"/>
              </a:rPr>
              <a:t>FAIXA DE SCORE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250;p24"/>
          <p:cNvSpPr/>
          <p:nvPr/>
        </p:nvSpPr>
        <p:spPr>
          <a:xfrm>
            <a:off x="6185880" y="2146680"/>
            <a:ext cx="22417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Score 0,40 a 0,69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251;p24"/>
          <p:cNvSpPr/>
          <p:nvPr/>
        </p:nvSpPr>
        <p:spPr>
          <a:xfrm>
            <a:off x="6185880" y="243468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6B7189"/>
                </a:solidFill>
                <a:effectLst/>
                <a:uFillTx/>
                <a:latin typeface="Calibri"/>
                <a:ea typeface="Calibri"/>
              </a:rPr>
              <a:t>VOLUME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Google Shape;252;p24"/>
          <p:cNvSpPr/>
          <p:nvPr/>
        </p:nvSpPr>
        <p:spPr>
          <a:xfrm>
            <a:off x="6185880" y="2626560"/>
            <a:ext cx="22417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0" i="1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14321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253;p24"/>
          <p:cNvSpPr/>
          <p:nvPr/>
        </p:nvSpPr>
        <p:spPr>
          <a:xfrm>
            <a:off x="6185880" y="291456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6B7189"/>
                </a:solidFill>
                <a:effectLst/>
                <a:uFillTx/>
                <a:latin typeface="Calibri"/>
                <a:ea typeface="Calibri"/>
              </a:rPr>
              <a:t>FOCO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254;p24"/>
          <p:cNvSpPr/>
          <p:nvPr/>
        </p:nvSpPr>
        <p:spPr>
          <a:xfrm>
            <a:off x="6185880" y="3106800"/>
            <a:ext cx="22417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Nutrição de marca a longo prazo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255;p24"/>
          <p:cNvSpPr/>
          <p:nvPr/>
        </p:nvSpPr>
        <p:spPr>
          <a:xfrm>
            <a:off x="6185880" y="3531960"/>
            <a:ext cx="2241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900" b="1" u="none" strike="noStrike">
                <a:solidFill>
                  <a:srgbClr val="6B7189"/>
                </a:solidFill>
                <a:effectLst/>
                <a:uFillTx/>
                <a:latin typeface="Calibri"/>
                <a:ea typeface="Calibri"/>
              </a:rPr>
              <a:t>AÇÃO COMERCIAL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Google Shape;256;p24"/>
          <p:cNvSpPr/>
          <p:nvPr/>
        </p:nvSpPr>
        <p:spPr>
          <a:xfrm>
            <a:off x="6185880" y="3723840"/>
            <a:ext cx="22417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1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Automação de e-mails, webinars pedagógicos e e-books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Google Shape;257;p24"/>
          <p:cNvSpPr/>
          <p:nvPr/>
        </p:nvSpPr>
        <p:spPr>
          <a:xfrm>
            <a:off x="411480" y="4423320"/>
            <a:ext cx="829764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258;p24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8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10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264;p25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265;p25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O Salto de Eficiência Comercial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Google Shape;266;p25"/>
          <p:cNvGraphicFramePr/>
          <p:nvPr/>
        </p:nvGraphicFramePr>
        <p:xfrm>
          <a:off x="411480" y="1200240"/>
          <a:ext cx="8296920" cy="3084840"/>
        </p:xfrm>
        <a:graphic>
          <a:graphicData uri="http://schemas.openxmlformats.org/drawingml/2006/table">
            <a:tbl>
              <a:tblPr/>
              <a:tblGrid>
                <a:gridCol w="1782720"/>
                <a:gridCol w="3257280"/>
                <a:gridCol w="3257280"/>
              </a:tblGrid>
              <a:tr h="479880"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Critério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Antes (Prospecção Tradicional)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Depois (Mapeamento por Dados)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24305E"/>
                    </a:solidFill>
                  </a:tcPr>
                </a:tc>
              </a:tr>
              <a:tr h="651240"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Encontrar clientes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Listas de escolas aleatórias, ligando “frio”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Identificação cirúrgica por Score de Potencial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</a:tr>
              <a:tr h="651240"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Previsão de orçamento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7F0F1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“Achismo” ou tentativa e erro em visitas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7F0F1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Validação direta da renda familiar real via Censo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</a:tr>
              <a:tr h="651240"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Tempo gasto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Semanas ou meses de qualificação manual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Pronto em segundos na planilha filtrada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</a:tr>
              <a:tr h="651240"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1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Conversão esperada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7F0F1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4A4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Baixa (&lt; 2%), pela dispersão do esforço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7F0F1"/>
                    </a:solidFill>
                  </a:tcPr>
                </a:tc>
                <a:tc>
                  <a:txBody>
                    <a:bodyPr lIns="68400" tIns="34200" rIns="68400" bIns="34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000" b="0" u="none" strike="noStrike">
                          <a:solidFill>
                            <a:srgbClr val="24305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Elevada, focando apenas no topo de pirâmide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E5D5D8"/>
                      </a:solidFill>
                      <a:prstDash val="solid"/>
                    </a:lnL>
                    <a:lnR w="9360">
                      <a:solidFill>
                        <a:srgbClr val="E5D5D8"/>
                      </a:solidFill>
                      <a:prstDash val="solid"/>
                    </a:lnR>
                    <a:lnT w="9360">
                      <a:solidFill>
                        <a:srgbClr val="E5D5D8"/>
                      </a:solidFill>
                      <a:prstDash val="solid"/>
                    </a:lnT>
                    <a:lnB w="9360">
                      <a:solidFill>
                        <a:srgbClr val="E5D5D8"/>
                      </a:solidFill>
                      <a:prstDash val="solid"/>
                    </a:lnB>
                    <a:solidFill>
                      <a:srgbClr val="F2E4E7"/>
                    </a:solidFill>
                  </a:tcPr>
                </a:tc>
              </a:tr>
            </a:tbl>
          </a:graphicData>
        </a:graphic>
      </p:graphicFrame>
      <p:sp>
        <p:nvSpPr>
          <p:cNvPr id="198" name="Google Shape;267;p25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11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273;p26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274;p26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Plano de Implementação Prática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275;p26"/>
          <p:cNvSpPr/>
          <p:nvPr/>
        </p:nvSpPr>
        <p:spPr>
          <a:xfrm>
            <a:off x="411480" y="1200240"/>
            <a:ext cx="2653200" cy="3222720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276;p26"/>
          <p:cNvSpPr/>
          <p:nvPr/>
        </p:nvSpPr>
        <p:spPr>
          <a:xfrm>
            <a:off x="617400" y="1405800"/>
            <a:ext cx="376560" cy="3765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277;p26"/>
          <p:cNvSpPr/>
          <p:nvPr/>
        </p:nvSpPr>
        <p:spPr>
          <a:xfrm>
            <a:off x="617400" y="1405800"/>
            <a:ext cx="376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278;p26"/>
          <p:cNvSpPr/>
          <p:nvPr/>
        </p:nvSpPr>
        <p:spPr>
          <a:xfrm>
            <a:off x="1097280" y="1405800"/>
            <a:ext cx="17618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FASE 1: VALIDAÇÃO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279;p26"/>
          <p:cNvSpPr/>
          <p:nvPr/>
        </p:nvSpPr>
        <p:spPr>
          <a:xfrm>
            <a:off x="1097280" y="1611720"/>
            <a:ext cx="17618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Semanas 1 e 2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280;p26"/>
          <p:cNvSpPr/>
          <p:nvPr/>
        </p:nvSpPr>
        <p:spPr>
          <a:xfrm>
            <a:off x="617400" y="192024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ATIVIDADE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281;p26"/>
          <p:cNvSpPr/>
          <p:nvPr/>
        </p:nvSpPr>
        <p:spPr>
          <a:xfrm>
            <a:off x="617400" y="2098440"/>
            <a:ext cx="22417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Selecionar 10 Golden Leads do top 50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282;p26"/>
          <p:cNvSpPr/>
          <p:nvPr/>
        </p:nvSpPr>
        <p:spPr>
          <a:xfrm>
            <a:off x="617400" y="264024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FOCO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283;p26"/>
          <p:cNvSpPr/>
          <p:nvPr/>
        </p:nvSpPr>
        <p:spPr>
          <a:xfrm>
            <a:off x="617400" y="2818800"/>
            <a:ext cx="224172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Abordagem de vendas experimental, qualificando o retorno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284;p26"/>
          <p:cNvSpPr/>
          <p:nvPr/>
        </p:nvSpPr>
        <p:spPr>
          <a:xfrm>
            <a:off x="617400" y="349776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OBJETIVO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285;p26"/>
          <p:cNvSpPr/>
          <p:nvPr/>
        </p:nvSpPr>
        <p:spPr>
          <a:xfrm>
            <a:off x="617400" y="3675960"/>
            <a:ext cx="224172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Comprovar a aderência do score na prática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286;p26"/>
          <p:cNvSpPr/>
          <p:nvPr/>
        </p:nvSpPr>
        <p:spPr>
          <a:xfrm>
            <a:off x="3195720" y="1200240"/>
            <a:ext cx="2653200" cy="3222720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287;p26"/>
          <p:cNvSpPr/>
          <p:nvPr/>
        </p:nvSpPr>
        <p:spPr>
          <a:xfrm>
            <a:off x="3401640" y="1405800"/>
            <a:ext cx="376560" cy="3765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Google Shape;288;p26"/>
          <p:cNvSpPr/>
          <p:nvPr/>
        </p:nvSpPr>
        <p:spPr>
          <a:xfrm>
            <a:off x="3401640" y="1405800"/>
            <a:ext cx="376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289;p26"/>
          <p:cNvSpPr/>
          <p:nvPr/>
        </p:nvSpPr>
        <p:spPr>
          <a:xfrm>
            <a:off x="3881520" y="1405800"/>
            <a:ext cx="17618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FASE 2: PILOTO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290;p26"/>
          <p:cNvSpPr/>
          <p:nvPr/>
        </p:nvSpPr>
        <p:spPr>
          <a:xfrm>
            <a:off x="3881520" y="1611720"/>
            <a:ext cx="17618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Mês 1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291;p26"/>
          <p:cNvSpPr/>
          <p:nvPr/>
        </p:nvSpPr>
        <p:spPr>
          <a:xfrm>
            <a:off x="3401640" y="192024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ATIVIDADE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292;p26"/>
          <p:cNvSpPr/>
          <p:nvPr/>
        </p:nvSpPr>
        <p:spPr>
          <a:xfrm>
            <a:off x="3401640" y="2098440"/>
            <a:ext cx="22417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Expandir para os 150 Golden Leads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293;p26"/>
          <p:cNvSpPr/>
          <p:nvPr/>
        </p:nvSpPr>
        <p:spPr>
          <a:xfrm>
            <a:off x="3401640" y="264024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FOCO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294;p26"/>
          <p:cNvSpPr/>
          <p:nvPr/>
        </p:nvSpPr>
        <p:spPr>
          <a:xfrm>
            <a:off x="3401640" y="2818800"/>
            <a:ext cx="224172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Munir consultores com insights demográficos locais de cada escola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295;p26"/>
          <p:cNvSpPr/>
          <p:nvPr/>
        </p:nvSpPr>
        <p:spPr>
          <a:xfrm>
            <a:off x="3401640" y="349776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OBJETIVO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296;p26"/>
          <p:cNvSpPr/>
          <p:nvPr/>
        </p:nvSpPr>
        <p:spPr>
          <a:xfrm>
            <a:off x="3401640" y="3675960"/>
            <a:ext cx="224172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Gerar os primeiros fechamentos com alta conversão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297;p26"/>
          <p:cNvSpPr/>
          <p:nvPr/>
        </p:nvSpPr>
        <p:spPr>
          <a:xfrm>
            <a:off x="5980320" y="1200240"/>
            <a:ext cx="2653200" cy="3222720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12700">
            <a:solidFill>
              <a:srgbClr val="E5D5D8"/>
            </a:solidFill>
            <a:round/>
          </a:ln>
          <a:effectLst>
            <a:outerShdw algn="bl" blurRad="763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298;p26"/>
          <p:cNvSpPr/>
          <p:nvPr/>
        </p:nvSpPr>
        <p:spPr>
          <a:xfrm>
            <a:off x="6185880" y="1405800"/>
            <a:ext cx="376560" cy="376560"/>
          </a:xfrm>
          <a:prstGeom prst="ellipse">
            <a:avLst/>
          </a:prstGeom>
          <a:solidFill>
            <a:srgbClr val="8B15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299;p26"/>
          <p:cNvSpPr/>
          <p:nvPr/>
        </p:nvSpPr>
        <p:spPr>
          <a:xfrm>
            <a:off x="6185880" y="1405800"/>
            <a:ext cx="376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300;p26"/>
          <p:cNvSpPr/>
          <p:nvPr/>
        </p:nvSpPr>
        <p:spPr>
          <a:xfrm>
            <a:off x="6666120" y="1405800"/>
            <a:ext cx="17618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FASE 3: ESCALA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301;p26"/>
          <p:cNvSpPr/>
          <p:nvPr/>
        </p:nvSpPr>
        <p:spPr>
          <a:xfrm>
            <a:off x="6666120" y="1611720"/>
            <a:ext cx="17618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Mês 2+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302;p26"/>
          <p:cNvSpPr/>
          <p:nvPr/>
        </p:nvSpPr>
        <p:spPr>
          <a:xfrm>
            <a:off x="6185880" y="192024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ATIVIDADE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303;p26"/>
          <p:cNvSpPr/>
          <p:nvPr/>
        </p:nvSpPr>
        <p:spPr>
          <a:xfrm>
            <a:off x="6185880" y="2098440"/>
            <a:ext cx="22417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Automação e importação das notas no CRM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304;p26"/>
          <p:cNvSpPr/>
          <p:nvPr/>
        </p:nvSpPr>
        <p:spPr>
          <a:xfrm>
            <a:off x="6185880" y="264024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FOCO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305;p26"/>
          <p:cNvSpPr/>
          <p:nvPr/>
        </p:nvSpPr>
        <p:spPr>
          <a:xfrm>
            <a:off x="6185880" y="2818800"/>
            <a:ext cx="224172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Iniciar prospecção de massa para as escolas do portfólio Polígono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306;p26"/>
          <p:cNvSpPr/>
          <p:nvPr/>
        </p:nvSpPr>
        <p:spPr>
          <a:xfrm>
            <a:off x="6185880" y="3497760"/>
            <a:ext cx="22417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OBJETIVO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307;p26"/>
          <p:cNvSpPr/>
          <p:nvPr/>
        </p:nvSpPr>
        <p:spPr>
          <a:xfrm>
            <a:off x="6185880" y="3675960"/>
            <a:ext cx="224172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Industrializar a inteligência de expansão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308;p26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12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314;p27"/>
          <p:cNvSpPr/>
          <p:nvPr/>
        </p:nvSpPr>
        <p:spPr>
          <a:xfrm>
            <a:off x="411480" y="274320"/>
            <a:ext cx="411408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NOVOS NEGÓCIOS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315;p27"/>
          <p:cNvSpPr/>
          <p:nvPr/>
        </p:nvSpPr>
        <p:spPr>
          <a:xfrm>
            <a:off x="411480" y="514440"/>
            <a:ext cx="754308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300" b="1" u="none" strike="noStrike">
                <a:solidFill>
                  <a:srgbClr val="24305E"/>
                </a:solidFill>
                <a:effectLst/>
                <a:uFillTx/>
                <a:latin typeface="Cambria"/>
                <a:ea typeface="Cambria"/>
              </a:rPr>
              <a:t>Roadmap Técnico de Evolução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7" name="Google Shape;316;p27"/>
          <p:cNvCxnSpPr/>
          <p:nvPr/>
        </p:nvCxnSpPr>
        <p:spPr>
          <a:xfrm>
            <a:off x="788400" y="1405800"/>
            <a:ext cx="720" cy="3155400"/>
          </a:xfrm>
          <a:prstGeom prst="straightConnector1">
            <a:avLst/>
          </a:prstGeom>
          <a:ln w="25400">
            <a:solidFill>
              <a:srgbClr val="E5D5D8"/>
            </a:solidFill>
            <a:round/>
          </a:ln>
        </p:spPr>
      </p:cxnSp>
      <p:sp>
        <p:nvSpPr>
          <p:cNvPr id="238" name="Google Shape;317;p27"/>
          <p:cNvSpPr/>
          <p:nvPr/>
        </p:nvSpPr>
        <p:spPr>
          <a:xfrm>
            <a:off x="637920" y="1268640"/>
            <a:ext cx="300960" cy="300960"/>
          </a:xfrm>
          <a:prstGeom prst="ellipse">
            <a:avLst/>
          </a:prstGeom>
          <a:solidFill>
            <a:srgbClr val="8B1538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318;p27"/>
          <p:cNvSpPr/>
          <p:nvPr/>
        </p:nvSpPr>
        <p:spPr>
          <a:xfrm>
            <a:off x="637920" y="1268640"/>
            <a:ext cx="3009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1.0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319;p27"/>
          <p:cNvSpPr/>
          <p:nvPr/>
        </p:nvSpPr>
        <p:spPr>
          <a:xfrm>
            <a:off x="1131480" y="1254960"/>
            <a:ext cx="10965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800" b="1" u="none" strike="noStrike">
                <a:solidFill>
                  <a:srgbClr val="8B1538"/>
                </a:solidFill>
                <a:effectLst/>
                <a:uFillTx/>
                <a:latin typeface="Calibri"/>
                <a:ea typeface="Calibri"/>
              </a:rPr>
              <a:t>ATUAL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320;p27"/>
          <p:cNvSpPr/>
          <p:nvPr/>
        </p:nvSpPr>
        <p:spPr>
          <a:xfrm>
            <a:off x="1131480" y="1447200"/>
            <a:ext cx="7405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3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Score de potencial estático, gerado em planilhas unificando Censo + INEP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321;p27"/>
          <p:cNvSpPr/>
          <p:nvPr/>
        </p:nvSpPr>
        <p:spPr>
          <a:xfrm>
            <a:off x="637920" y="1899720"/>
            <a:ext cx="300960" cy="300960"/>
          </a:xfrm>
          <a:prstGeom prst="ellipse">
            <a:avLst/>
          </a:prstGeom>
          <a:solidFill>
            <a:srgbClr val="C99A3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322;p27"/>
          <p:cNvSpPr/>
          <p:nvPr/>
        </p:nvSpPr>
        <p:spPr>
          <a:xfrm>
            <a:off x="637920" y="1899720"/>
            <a:ext cx="3009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2.0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323;p27"/>
          <p:cNvSpPr/>
          <p:nvPr/>
        </p:nvSpPr>
        <p:spPr>
          <a:xfrm>
            <a:off x="1131480" y="1886040"/>
            <a:ext cx="10965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8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PRÓXIMO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324;p27"/>
          <p:cNvSpPr/>
          <p:nvPr/>
        </p:nvSpPr>
        <p:spPr>
          <a:xfrm>
            <a:off x="1131480" y="2077920"/>
            <a:ext cx="7405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3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Painel interativo para filtros personalizados por UF/Município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325;p27"/>
          <p:cNvSpPr/>
          <p:nvPr/>
        </p:nvSpPr>
        <p:spPr>
          <a:xfrm>
            <a:off x="637920" y="2530440"/>
            <a:ext cx="300960" cy="300960"/>
          </a:xfrm>
          <a:prstGeom prst="ellipse">
            <a:avLst/>
          </a:prstGeom>
          <a:solidFill>
            <a:srgbClr val="24305E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326;p27"/>
          <p:cNvSpPr/>
          <p:nvPr/>
        </p:nvSpPr>
        <p:spPr>
          <a:xfrm>
            <a:off x="637920" y="2530440"/>
            <a:ext cx="3009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3.0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327;p27"/>
          <p:cNvSpPr/>
          <p:nvPr/>
        </p:nvSpPr>
        <p:spPr>
          <a:xfrm>
            <a:off x="1131480" y="2516760"/>
            <a:ext cx="740592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3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Integração via API com o CRM (HubSpot/Salesforce) para auto-scoring de novos leads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328;p27"/>
          <p:cNvSpPr/>
          <p:nvPr/>
        </p:nvSpPr>
        <p:spPr>
          <a:xfrm>
            <a:off x="637920" y="3161520"/>
            <a:ext cx="300960" cy="300960"/>
          </a:xfrm>
          <a:prstGeom prst="ellipse">
            <a:avLst/>
          </a:prstGeom>
          <a:solidFill>
            <a:srgbClr val="24305E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329;p27"/>
          <p:cNvSpPr/>
          <p:nvPr/>
        </p:nvSpPr>
        <p:spPr>
          <a:xfrm>
            <a:off x="637920" y="3161520"/>
            <a:ext cx="3009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4.0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330;p27"/>
          <p:cNvSpPr/>
          <p:nvPr/>
        </p:nvSpPr>
        <p:spPr>
          <a:xfrm>
            <a:off x="1131480" y="3147840"/>
            <a:ext cx="740592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3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Georreferenciamento de concorrência e visualização espacial das escolas em mapas dinâmicos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331;p27"/>
          <p:cNvSpPr/>
          <p:nvPr/>
        </p:nvSpPr>
        <p:spPr>
          <a:xfrm>
            <a:off x="637920" y="3792600"/>
            <a:ext cx="300960" cy="300960"/>
          </a:xfrm>
          <a:prstGeom prst="ellipse">
            <a:avLst/>
          </a:prstGeom>
          <a:solidFill>
            <a:srgbClr val="24305E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332;p27"/>
          <p:cNvSpPr/>
          <p:nvPr/>
        </p:nvSpPr>
        <p:spPr>
          <a:xfrm>
            <a:off x="637920" y="3792600"/>
            <a:ext cx="3009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5.0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333;p27"/>
          <p:cNvSpPr/>
          <p:nvPr/>
        </p:nvSpPr>
        <p:spPr>
          <a:xfrm>
            <a:off x="1131480" y="3778920"/>
            <a:ext cx="740592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3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4A4A4A"/>
                </a:solidFill>
                <a:effectLst/>
                <a:uFillTx/>
                <a:latin typeface="Calibri"/>
                <a:ea typeface="Calibri"/>
              </a:rPr>
              <a:t>Modelo preditivo de propensão de fechamento integrado ao funil de vendas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334;p27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13</a:t>
            </a:r>
            <a:endParaRPr lang="pt-B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30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340;p28"/>
          <p:cNvSpPr/>
          <p:nvPr/>
        </p:nvSpPr>
        <p:spPr>
          <a:xfrm>
            <a:off x="617400" y="1097280"/>
            <a:ext cx="788616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PRONTOS PARA CRESCER COM INTELIGÊNCIA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341;p28"/>
          <p:cNvSpPr/>
          <p:nvPr/>
        </p:nvSpPr>
        <p:spPr>
          <a:xfrm>
            <a:off x="617400" y="1989000"/>
            <a:ext cx="342360" cy="342360"/>
          </a:xfrm>
          <a:prstGeom prst="ellipse">
            <a:avLst/>
          </a:prstGeom>
          <a:solidFill>
            <a:srgbClr val="C99A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342;p28"/>
          <p:cNvSpPr/>
          <p:nvPr/>
        </p:nvSpPr>
        <p:spPr>
          <a:xfrm>
            <a:off x="617400" y="1989000"/>
            <a:ext cx="3423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5E0E24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343;p28"/>
          <p:cNvSpPr/>
          <p:nvPr/>
        </p:nvSpPr>
        <p:spPr>
          <a:xfrm>
            <a:off x="1097280" y="1974960"/>
            <a:ext cx="2742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Eficiência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344;p28"/>
          <p:cNvSpPr/>
          <p:nvPr/>
        </p:nvSpPr>
        <p:spPr>
          <a:xfrm>
            <a:off x="3909240" y="1974960"/>
            <a:ext cx="45943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Redução drástica das horas de qualificação comercial para focar em quem pode comprar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345;p28"/>
          <p:cNvSpPr/>
          <p:nvPr/>
        </p:nvSpPr>
        <p:spPr>
          <a:xfrm>
            <a:off x="617400" y="2571840"/>
            <a:ext cx="342360" cy="342360"/>
          </a:xfrm>
          <a:prstGeom prst="ellipse">
            <a:avLst/>
          </a:prstGeom>
          <a:solidFill>
            <a:srgbClr val="C99A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346;p28"/>
          <p:cNvSpPr/>
          <p:nvPr/>
        </p:nvSpPr>
        <p:spPr>
          <a:xfrm>
            <a:off x="617400" y="2571840"/>
            <a:ext cx="3423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5E0E24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347;p28"/>
          <p:cNvSpPr/>
          <p:nvPr/>
        </p:nvSpPr>
        <p:spPr>
          <a:xfrm>
            <a:off x="1097280" y="2558160"/>
            <a:ext cx="2742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Casamento de Portfólio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348;p28"/>
          <p:cNvSpPr/>
          <p:nvPr/>
        </p:nvSpPr>
        <p:spPr>
          <a:xfrm>
            <a:off x="3909240" y="2558160"/>
            <a:ext cx="45943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Poliedro tradicional para o topo financeiro; Polígono para o volume da classe média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Google Shape;349;p28"/>
          <p:cNvSpPr/>
          <p:nvPr/>
        </p:nvSpPr>
        <p:spPr>
          <a:xfrm>
            <a:off x="617400" y="3154680"/>
            <a:ext cx="342360" cy="342360"/>
          </a:xfrm>
          <a:prstGeom prst="ellipse">
            <a:avLst/>
          </a:prstGeom>
          <a:solidFill>
            <a:srgbClr val="C99A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350;p28"/>
          <p:cNvSpPr/>
          <p:nvPr/>
        </p:nvSpPr>
        <p:spPr>
          <a:xfrm>
            <a:off x="617400" y="3154680"/>
            <a:ext cx="3423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trike="noStrike">
                <a:solidFill>
                  <a:srgbClr val="5E0E24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351;p28"/>
          <p:cNvSpPr/>
          <p:nvPr/>
        </p:nvSpPr>
        <p:spPr>
          <a:xfrm>
            <a:off x="1097280" y="3141000"/>
            <a:ext cx="2742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rgbClr val="C99A3B"/>
                </a:solidFill>
                <a:effectLst/>
                <a:uFillTx/>
                <a:latin typeface="Calibri"/>
                <a:ea typeface="Calibri"/>
              </a:rPr>
              <a:t>Praticidade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352;p28"/>
          <p:cNvSpPr/>
          <p:nvPr/>
        </p:nvSpPr>
        <p:spPr>
          <a:xfrm>
            <a:off x="3909240" y="3141000"/>
            <a:ext cx="45943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Framework pronto para testes em até 3 semanas, se fizer sentido para o time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69" name="Google Shape;353;p28"/>
          <p:cNvCxnSpPr/>
          <p:nvPr/>
        </p:nvCxnSpPr>
        <p:spPr>
          <a:xfrm>
            <a:off x="617040" y="3977640"/>
            <a:ext cx="1509480" cy="720"/>
          </a:xfrm>
          <a:prstGeom prst="straightConnector1">
            <a:avLst/>
          </a:prstGeom>
          <a:ln w="25400">
            <a:solidFill>
              <a:srgbClr val="C99A3B"/>
            </a:solidFill>
            <a:round/>
          </a:ln>
        </p:spPr>
      </p:cxnSp>
      <p:sp>
        <p:nvSpPr>
          <p:cNvPr id="270" name="Google Shape;354;p28"/>
          <p:cNvSpPr/>
          <p:nvPr/>
        </p:nvSpPr>
        <p:spPr>
          <a:xfrm>
            <a:off x="617400" y="4114800"/>
            <a:ext cx="7543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15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Dúvidas ou sugestões? Obrigado!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355;p28"/>
          <p:cNvSpPr/>
          <p:nvPr/>
        </p:nvSpPr>
        <p:spPr>
          <a:xfrm>
            <a:off x="343080" y="4903560"/>
            <a:ext cx="84348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pt-BR" sz="700" b="0" u="none" strike="noStrike">
                <a:solidFill>
                  <a:srgbClr val="24305E"/>
                </a:solidFill>
                <a:effectLst/>
                <a:uFillTx/>
                <a:latin typeface="Calibri"/>
                <a:ea typeface="Calibri"/>
              </a:rPr>
              <a:t>Poliedro Educação  |  Novos Negócios  |  14</a:t>
            </a:r>
            <a:endParaRPr lang="pt-BR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Application>LibreOffice/26.2.3.2$Windows_X86_64 LibreOffice_project/70e089b17412e4cb7773e41413306b17a2328c34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pt-BR</dc:language>
  <cp:lastModifiedBy/>
  <dcterms:modified xsi:type="dcterms:W3CDTF">2026-07-16T15:06:49Z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